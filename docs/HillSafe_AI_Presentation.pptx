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7E97AD"/>
                </a:solidFill>
                <a:latin typeface="Arial"/>
              </a:defRPr>
            </a:pPr>
            <a:r>
              <a:rPr sz="1000" b="0" i="0" u="none" strike="noStrike">
                <a:solidFill>
                  <a:srgbClr val="7E97AD"/>
                </a:solidFill>
                <a:latin typeface="Arial"/>
              </a:rPr>
              <a:t>What drives the danger score</a:t>
            </a:r>
          </a:p>
        </c:rich>
      </c:tx>
      <c:layout/>
      <c:overlay val="0"/>
    </c:title>
    <c:autoTitleDeleted val="0"/>
    <c:plotArea>
      <c:layout/>
      <c:barChart>
        <c:barDir val="bar"/>
        <c:grouping val="clustered"/>
        <c:varyColors val="0"/>
        <c:ser>
          <c:idx val="0"/>
          <c:order val="0"/>
          <c:tx>
            <c:strRef>
              <c:f>Sheet1!$B$1</c:f>
              <c:strCache>
                <c:ptCount val="1"/>
                <c:pt idx="0">
                  <c:v>Feature importance</c:v>
                </c:pt>
              </c:strCache>
            </c:strRef>
          </c:tx>
          <c:spPr>
            <a:solidFill>
              <a:srgbClr val="00C8FF"/>
            </a:solidFill>
            <a:effectLst/>
          </c:spPr>
          <c:invertIfNegative val="0"/>
          <c:dLbls>
            <c:numFmt formatCode="#,##0" sourceLinked="0"/>
            <c:txPr>
              <a:bodyPr/>
              <a:lstStyle/>
              <a:p>
                <a:pPr>
                  <a:defRPr b="0" i="0" strike="noStrike" sz="800" u="none">
                    <a:solidFill>
                      <a:srgbClr val="F2F8FD"/>
                    </a:solidFill>
                    <a:latin typeface="Arial"/>
                  </a:defRPr>
                </a:pPr>
              </a:p>
            </c:txPr>
            <c:showLegendKey val="0"/>
            <c:showVal val="1"/>
            <c:showCatName val="0"/>
            <c:showSerName val="0"/>
            <c:showPercent val="0"/>
            <c:showBubbleSize val="0"/>
            <c:showLeaderLines val="0"/>
          </c:dLbls>
          <c:cat>
            <c:multiLvlStrRef>
              <c:f>Sheet1!$A$2:$A$7</c:f>
              <c:multiLvlStrCache>
                <c:ptCount val="6"/>
                <c:lvl>
                  <c:pt idx="0">
                    <c:v>Speed vs limit</c:v>
                  </c:pt>
                  <c:pt idx="1">
                    <c:v>Weather factor</c:v>
                  </c:pt>
                  <c:pt idx="2">
                    <c:v>Zone proximity</c:v>
                  </c:pt>
                  <c:pt idx="3">
                    <c:v>Road curvature</c:v>
                  </c:pt>
                  <c:pt idx="4">
                    <c:v>Driver fatigue</c:v>
                  </c:pt>
                  <c:pt idx="5">
                    <c:v>Altitude</c:v>
                  </c:pt>
                </c:lvl>
              </c:multiLvlStrCache>
            </c:multiLvlStrRef>
          </c:cat>
          <c:val>
            <c:numRef>
              <c:f>Sheet1!$B$2:$B$7</c:f>
              <c:numCache>
                <c:formatCode>General</c:formatCode>
                <c:ptCount val="6"/>
                <c:pt idx="0">
                  <c:v>0.26</c:v>
                </c:pt>
                <c:pt idx="1">
                  <c:v>0.22</c:v>
                </c:pt>
                <c:pt idx="2">
                  <c:v>0.19</c:v>
                </c:pt>
                <c:pt idx="3">
                  <c:v>0.14</c:v>
                </c:pt>
                <c:pt idx="4">
                  <c:v>0.11</c:v>
                </c:pt>
                <c:pt idx="5">
                  <c:v>0.08</c:v>
                </c:pt>
              </c:numCache>
            </c:numRef>
          </c:val>
        </c:ser>
        <c:dLbls>
          <c:numFmt formatCode="#,##0" sourceLinked="0"/>
          <c:txPr>
            <a:bodyPr/>
            <a:lstStyle/>
            <a:p>
              <a:pPr>
                <a:defRPr b="0" i="0" strike="noStrike" sz="800" u="none">
                  <a:solidFill>
                    <a:srgbClr val="F2F8F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7E97A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240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7E97AD"/>
                </a:solidFill>
                <a:latin typeface="Arial"/>
              </a:defRPr>
            </a:pPr>
            <a:endParaRPr lang="en-US"/>
          </a:p>
        </c:txPr>
        <c:crossAx val="2094734554"/>
        <c:crosses val="autoZero"/>
        <c:crossBetween val="between"/>
      </c:valAx>
      <c:spPr>
        <a:solidFill>
          <a:srgbClr val="111D33"/>
        </a:solidFill>
        <a:ln>
          <a:noFill/>
        </a:ln>
        <a:effectLst/>
      </c:spPr>
    </c:plotArea>
    <c:plotVisOnly val="1"/>
    <c:dispBlanksAs val="span"/>
  </c:chart>
  <c:spPr>
    <a:solidFill>
      <a:srgbClr val="111D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7E97AD"/>
                </a:solidFill>
                <a:latin typeface="Arial"/>
              </a:defRPr>
            </a:pPr>
            <a:r>
              <a:rPr sz="1100" b="0" i="0" u="none" strike="noStrike">
                <a:solidFill>
                  <a:srgbClr val="7E97AD"/>
                </a:solidFill>
                <a:latin typeface="Arial"/>
              </a:rPr>
              <a:t>Emergency response time (minutes)</a:t>
            </a:r>
          </a:p>
        </c:rich>
      </c:tx>
      <c:layout/>
      <c:overlay val="0"/>
    </c:title>
    <c:autoTitleDeleted val="0"/>
    <c:plotArea>
      <c:layout/>
      <c:barChart>
        <c:barDir val="col"/>
        <c:grouping val="clustered"/>
        <c:varyColors val="0"/>
        <c:ser>
          <c:idx val="0"/>
          <c:order val="0"/>
          <c:tx>
            <c:strRef>
              <c:f>Sheet1!$B$1</c:f>
              <c:strCache>
                <c:ptCount val="1"/>
                <c:pt idx="0">
                  <c:v>Response time (min)</c:v>
                </c:pt>
              </c:strCache>
            </c:strRef>
          </c:tx>
          <c:spPr>
            <a:solidFill>
              <a:srgbClr val="FF4D4D">
                <a:alpha val="90000"/>
              </a:srgbClr>
            </a:solidFill>
            <a:effectLst/>
          </c:spPr>
          <c:invertIfNegative val="0"/>
          <c:dLbls>
            <c:numFmt formatCode="#,##0" sourceLinked="0"/>
            <c:txPr>
              <a:bodyPr/>
              <a:lstStyle/>
              <a:p>
                <a:pPr>
                  <a:defRPr b="0" i="0" strike="noStrike" sz="1400" u="none">
                    <a:solidFill>
                      <a:srgbClr val="F2F8FD"/>
                    </a:solidFill>
                    <a:latin typeface="Arial"/>
                  </a:defRPr>
                </a:pPr>
              </a:p>
            </c:txPr>
            <c:showLegendKey val="0"/>
            <c:showVal val="1"/>
            <c:showCatName val="0"/>
            <c:showSerName val="0"/>
            <c:showPercent val="0"/>
            <c:showBubbleSize val="0"/>
            <c:showLeaderLines val="0"/>
          </c:dLbls>
          <c:dPt>
            <c:idx val="0"/>
            <c:invertIfNegative val="0"/>
            <c:bubble3D val="0"/>
            <c:spPr>
              <a:solidFill>
                <a:srgbClr val="FF4D4D"/>
              </a:solidFill>
              <a:effectLst/>
            </c:spPr>
          </c:dPt>
          <c:dPt>
            <c:idx val="1"/>
            <c:invertIfNegative val="0"/>
            <c:bubble3D val="0"/>
            <c:spPr>
              <a:solidFill>
                <a:srgbClr val="00E676"/>
              </a:solidFill>
              <a:effectLst/>
            </c:spPr>
          </c:dPt>
          <c:cat>
            <c:multiLvlStrRef>
              <c:f>Sheet1!$A$2:$A$3</c:f>
              <c:multiLvlStrCache>
                <c:ptCount val="2"/>
                <c:lvl>
                  <c:pt idx="0">
                    <c:v>National average</c:v>
                  </c:pt>
                  <c:pt idx="1">
                    <c:v>With HillSafe AI</c:v>
                  </c:pt>
                </c:lvl>
              </c:multiLvlStrCache>
            </c:multiLvlStrRef>
          </c:cat>
          <c:val>
            <c:numRef>
              <c:f>Sheet1!$B$2:$B$3</c:f>
              <c:numCache>
                <c:formatCode>General</c:formatCode>
                <c:ptCount val="2"/>
                <c:pt idx="0">
                  <c:v>34</c:v>
                </c:pt>
                <c:pt idx="1">
                  <c:v>11</c:v>
                </c:pt>
              </c:numCache>
            </c:numRef>
          </c:val>
        </c:ser>
        <c:dLbls>
          <c:numFmt formatCode="#,##0" sourceLinked="0"/>
          <c:txPr>
            <a:bodyPr/>
            <a:lstStyle/>
            <a:p>
              <a:pPr>
                <a:defRPr b="0" i="0" strike="noStrike" sz="1400" u="none">
                  <a:solidFill>
                    <a:srgbClr val="F2F8F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E97AD"/>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2240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E97AD"/>
                </a:solidFill>
                <a:latin typeface="Arial"/>
              </a:defRPr>
            </a:pPr>
            <a:endParaRPr lang="en-US"/>
          </a:p>
        </c:txPr>
        <c:crossAx val="2094734554"/>
        <c:crosses val="autoZero"/>
        <c:crossBetween val="between"/>
      </c:valAx>
      <c:spPr>
        <a:solidFill>
          <a:srgbClr val="111D33"/>
        </a:solidFill>
        <a:ln>
          <a:noFill/>
        </a:ln>
        <a:effectLst/>
      </c:spPr>
    </c:plotArea>
    <c:plotVisOnly val="1"/>
    <c:dispBlanksAs val="span"/>
  </c:chart>
  <c:spPr>
    <a:solidFill>
      <a:srgbClr val="111D3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Safeer Ahmed, and today I'm presenting HillSafe AI — a full-stack AI system I built to save lives on J&amp;K mountain roads. This is a working prototype, not a concept — everything you'll see today runs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personal. I grew up in J&amp;K watching accidents happen on these roads with no ambulance arriving in time. NH-44 through Banihal Pass sits at 2,832 meters with zero mobile signal. The national average emergency response is 34 minutes — in trauma cases, most lives are lost in the first 30. Nearly 4,700 accidents happen in J&amp;K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HillSafe AI is a complete detection-to-response pipeline. Detect: 100+ vehicles send telemetry every 2 seconds, scored by an ML model. Alert: any anomaly triggers cascade warnings to all nearby vehicles in under half a second. Respond: the Green Corridor system clears the ambulance's entire route before it even departs the hospital. Result: 11 minutes instead of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 stages left to right. Emphasize: every stage is automated — no human dispatcher needed. Detection under 2 seconds, cascade alerts under half a second, corridor cleared in under 2 minutes, patient at hospital in 11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clean layers. Presentation layer has multiple frontends for different users — control room dashboard, driver mobile app, public website. Backend runs the real-time engine on Socket.io. ML layer is a separate Python microservice, called every 10 seconds. Data layer is MySQL with 8 tables. Hardware layer costs only Rs 1,400 per vehicle. Point out the microservice separation — Node and Python talk over HTTP, industry-standard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I'm most proud of. Traditional green corridors are manual — police physically clear roads, taking 20+ minutes. HillSafe AI does it in software: the moment an ambulance is dispatched, every vehicle along its route gets an alert BEFORE the ambulance leaves the hospital gate. Instructions differ by vehicle type. Anyone who doesn't comply gets re-alerted every 20 seconds. The hospital also gets the patient's blood group and ETA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HillSafe AI doesn't only respond to crashes — it prevents them. The cascade system means a single brake failure warns every vehicle around it faster than a human can even react. The ECU lock is the boldest feature: the server can physically slow a speeding vehicle down through the OBD-II port. Weather multipliers mean the same speed that's fine on a sunny day becomes a violation in fog. And challans are issued automatically with GPS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engine is a separate Python microservice — XGBoost classifier with 25 features. The chart shows which features drive the danger score most: speed relative to the zone limit and live weather dominate. Accuracy is around 87% on 20,000 samples. The retrain endpoint means the model improves as real NCRB and iRAD accident data is added — that pipeline is already 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story matters for deployment. Every car made after 2008 has an OBD-II port — this device plugs straight in. Total build cost is Rs 1,400 using off-the-shelf parts, versus Rs 25,000+ for commercial telematics. The firmware is written and included in the repo — the physical prototype is the next build step. The G-force crash detection means even an unconscious driver's crash is reported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runs live on localhost right now — this is the point where I switch to the browser. Demo order I recommend: start the launcher for the boot sequence, then dashboard, then trigger an accident simulation, then the 4D cinematic sim, and close with the real-road overlay. Each demo is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34 minutes down to 11 — a 68% improvement. But the table on the right matters just as much: four of these six capabilities simply did not exist before. There was no way to alert nearby vehicles, no hospital pre-alert, no prediction. The golden hour in trauma medicine means 23 saved minutes translates directly to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student project, security was treated seriously — this matters when presenting to companies. Every piece of data from the network is escaped before touching the DOM, every SQL query is parameterized, endpoints are rate-limited, and no secret has ever been committed to Git. This is the same checklist a production code review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what's done versus what's next — reviewers respect that. The prototype is complete and demonstrable today. Next 3 months: real accident data into the model, and the physical device in one test car. The 6-12 month goal is a small pilot on the actual Banihal route. The long-term vision is a government partnership — this is infrastructure, and it should belong to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not the technology. I built this because I watched people wait for help that came too late. Every layer of this system exists to give back the 23 minutes that decide whether someone lives. The full source is public on GitHub. Thank you — happy to take questions or run any demo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22"/>
        </a:solidFill>
      </p:bgPr>
    </p:bg>
    <p:spTree>
      <p:nvGrpSpPr>
        <p:cNvPr id="1" name=""/>
        <p:cNvGrpSpPr/>
        <p:nvPr/>
      </p:nvGrpSpPr>
      <p:grpSpPr>
        <a:xfrm>
          <a:off x="0" y="0"/>
          <a:ext cx="0" cy="0"/>
          <a:chOff x="0" y="0"/>
          <a:chExt cx="0" cy="0"/>
        </a:xfrm>
      </p:grpSpPr>
      <p:sp>
        <p:nvSpPr>
          <p:cNvPr id="2" name="Shape 0"/>
          <p:cNvSpPr/>
          <p:nvPr/>
        </p:nvSpPr>
        <p:spPr>
          <a:xfrm>
            <a:off x="4562272" y="4654265"/>
            <a:ext cx="55886" cy="55886"/>
          </a:xfrm>
          <a:prstGeom prst="ellipse">
            <a:avLst/>
          </a:prstGeom>
          <a:solidFill>
            <a:srgbClr val="00C8FF">
              <a:alpha val="30000"/>
            </a:srgbClr>
          </a:solidFill>
          <a:ln/>
        </p:spPr>
      </p:sp>
      <p:sp>
        <p:nvSpPr>
          <p:cNvPr id="3" name="Shape 1"/>
          <p:cNvSpPr/>
          <p:nvPr/>
        </p:nvSpPr>
        <p:spPr>
          <a:xfrm>
            <a:off x="8341810" y="274214"/>
            <a:ext cx="42728" cy="42728"/>
          </a:xfrm>
          <a:prstGeom prst="ellipse">
            <a:avLst/>
          </a:prstGeom>
          <a:solidFill>
            <a:srgbClr val="00C8FF">
              <a:alpha val="30000"/>
            </a:srgbClr>
          </a:solidFill>
          <a:ln/>
        </p:spPr>
      </p:sp>
      <p:sp>
        <p:nvSpPr>
          <p:cNvPr id="4" name="Shape 2"/>
          <p:cNvSpPr/>
          <p:nvPr/>
        </p:nvSpPr>
        <p:spPr>
          <a:xfrm>
            <a:off x="6258863" y="1096323"/>
            <a:ext cx="43846" cy="43846"/>
          </a:xfrm>
          <a:prstGeom prst="ellipse">
            <a:avLst/>
          </a:prstGeom>
          <a:solidFill>
            <a:srgbClr val="00C8FF">
              <a:alpha val="30000"/>
            </a:srgbClr>
          </a:solidFill>
          <a:ln/>
        </p:spPr>
      </p:sp>
      <p:sp>
        <p:nvSpPr>
          <p:cNvPr id="5" name="Shape 3"/>
          <p:cNvSpPr/>
          <p:nvPr/>
        </p:nvSpPr>
        <p:spPr>
          <a:xfrm>
            <a:off x="1303534" y="3774452"/>
            <a:ext cx="39419" cy="39419"/>
          </a:xfrm>
          <a:prstGeom prst="ellipse">
            <a:avLst/>
          </a:prstGeom>
          <a:solidFill>
            <a:srgbClr val="00C8FF">
              <a:alpha val="30000"/>
            </a:srgbClr>
          </a:solidFill>
          <a:ln/>
        </p:spPr>
      </p:sp>
      <p:sp>
        <p:nvSpPr>
          <p:cNvPr id="6" name="Shape 4"/>
          <p:cNvSpPr/>
          <p:nvPr/>
        </p:nvSpPr>
        <p:spPr>
          <a:xfrm>
            <a:off x="4031030" y="1063101"/>
            <a:ext cx="59111" cy="59111"/>
          </a:xfrm>
          <a:prstGeom prst="ellipse">
            <a:avLst/>
          </a:prstGeom>
          <a:solidFill>
            <a:srgbClr val="00C8FF">
              <a:alpha val="30000"/>
            </a:srgbClr>
          </a:solidFill>
          <a:ln/>
        </p:spPr>
      </p:sp>
      <p:sp>
        <p:nvSpPr>
          <p:cNvPr id="7" name="Shape 5"/>
          <p:cNvSpPr/>
          <p:nvPr/>
        </p:nvSpPr>
        <p:spPr>
          <a:xfrm>
            <a:off x="3652169" y="4082841"/>
            <a:ext cx="23655" cy="23655"/>
          </a:xfrm>
          <a:prstGeom prst="ellipse">
            <a:avLst/>
          </a:prstGeom>
          <a:solidFill>
            <a:srgbClr val="00C8FF">
              <a:alpha val="30000"/>
            </a:srgbClr>
          </a:solidFill>
          <a:ln/>
        </p:spPr>
      </p:sp>
      <p:sp>
        <p:nvSpPr>
          <p:cNvPr id="8" name="Shape 6"/>
          <p:cNvSpPr/>
          <p:nvPr/>
        </p:nvSpPr>
        <p:spPr>
          <a:xfrm>
            <a:off x="7136744" y="3903697"/>
            <a:ext cx="39663" cy="39663"/>
          </a:xfrm>
          <a:prstGeom prst="ellipse">
            <a:avLst/>
          </a:prstGeom>
          <a:solidFill>
            <a:srgbClr val="00C8FF">
              <a:alpha val="30000"/>
            </a:srgbClr>
          </a:solidFill>
          <a:ln/>
        </p:spPr>
      </p:sp>
      <p:sp>
        <p:nvSpPr>
          <p:cNvPr id="9" name="Shape 7"/>
          <p:cNvSpPr/>
          <p:nvPr/>
        </p:nvSpPr>
        <p:spPr>
          <a:xfrm>
            <a:off x="3706521" y="2282723"/>
            <a:ext cx="26280" cy="26280"/>
          </a:xfrm>
          <a:prstGeom prst="ellipse">
            <a:avLst/>
          </a:prstGeom>
          <a:solidFill>
            <a:srgbClr val="00C8FF">
              <a:alpha val="30000"/>
            </a:srgbClr>
          </a:solidFill>
          <a:ln/>
        </p:spPr>
      </p:sp>
      <p:sp>
        <p:nvSpPr>
          <p:cNvPr id="10" name="Shape 8"/>
          <p:cNvSpPr/>
          <p:nvPr/>
        </p:nvSpPr>
        <p:spPr>
          <a:xfrm>
            <a:off x="7720335" y="4031684"/>
            <a:ext cx="46142" cy="46142"/>
          </a:xfrm>
          <a:prstGeom prst="ellipse">
            <a:avLst/>
          </a:prstGeom>
          <a:solidFill>
            <a:srgbClr val="00C8FF">
              <a:alpha val="30000"/>
            </a:srgbClr>
          </a:solidFill>
          <a:ln/>
        </p:spPr>
      </p:sp>
      <p:sp>
        <p:nvSpPr>
          <p:cNvPr id="11" name="Shape 9"/>
          <p:cNvSpPr/>
          <p:nvPr/>
        </p:nvSpPr>
        <p:spPr>
          <a:xfrm>
            <a:off x="2455899" y="981082"/>
            <a:ext cx="39523" cy="39523"/>
          </a:xfrm>
          <a:prstGeom prst="ellipse">
            <a:avLst/>
          </a:prstGeom>
          <a:solidFill>
            <a:srgbClr val="00C8FF">
              <a:alpha val="30000"/>
            </a:srgbClr>
          </a:solidFill>
          <a:ln/>
        </p:spPr>
      </p:sp>
      <p:sp>
        <p:nvSpPr>
          <p:cNvPr id="12" name="Shape 10"/>
          <p:cNvSpPr/>
          <p:nvPr/>
        </p:nvSpPr>
        <p:spPr>
          <a:xfrm>
            <a:off x="2713629" y="3194521"/>
            <a:ext cx="39098" cy="39098"/>
          </a:xfrm>
          <a:prstGeom prst="ellipse">
            <a:avLst/>
          </a:prstGeom>
          <a:solidFill>
            <a:srgbClr val="00C8FF">
              <a:alpha val="30000"/>
            </a:srgbClr>
          </a:solidFill>
          <a:ln/>
        </p:spPr>
      </p:sp>
      <p:sp>
        <p:nvSpPr>
          <p:cNvPr id="13" name="Shape 11"/>
          <p:cNvSpPr/>
          <p:nvPr/>
        </p:nvSpPr>
        <p:spPr>
          <a:xfrm>
            <a:off x="6005860" y="1924398"/>
            <a:ext cx="29778" cy="29778"/>
          </a:xfrm>
          <a:prstGeom prst="ellipse">
            <a:avLst/>
          </a:prstGeom>
          <a:solidFill>
            <a:srgbClr val="00C8FF">
              <a:alpha val="30000"/>
            </a:srgbClr>
          </a:solidFill>
          <a:ln/>
        </p:spPr>
      </p:sp>
      <p:sp>
        <p:nvSpPr>
          <p:cNvPr id="14" name="Shape 12"/>
          <p:cNvSpPr/>
          <p:nvPr/>
        </p:nvSpPr>
        <p:spPr>
          <a:xfrm>
            <a:off x="5957580" y="1821323"/>
            <a:ext cx="29959" cy="29959"/>
          </a:xfrm>
          <a:prstGeom prst="ellipse">
            <a:avLst/>
          </a:prstGeom>
          <a:solidFill>
            <a:srgbClr val="00C8FF">
              <a:alpha val="30000"/>
            </a:srgbClr>
          </a:solidFill>
          <a:ln/>
        </p:spPr>
      </p:sp>
      <p:sp>
        <p:nvSpPr>
          <p:cNvPr id="15" name="Shape 13"/>
          <p:cNvSpPr/>
          <p:nvPr/>
        </p:nvSpPr>
        <p:spPr>
          <a:xfrm>
            <a:off x="4705188" y="4524112"/>
            <a:ext cx="29719" cy="29719"/>
          </a:xfrm>
          <a:prstGeom prst="ellipse">
            <a:avLst/>
          </a:prstGeom>
          <a:solidFill>
            <a:srgbClr val="00C8FF">
              <a:alpha val="30000"/>
            </a:srgbClr>
          </a:solidFill>
          <a:ln/>
        </p:spPr>
      </p:sp>
      <p:sp>
        <p:nvSpPr>
          <p:cNvPr id="16" name="Shape 14"/>
          <p:cNvSpPr/>
          <p:nvPr/>
        </p:nvSpPr>
        <p:spPr>
          <a:xfrm>
            <a:off x="4646410" y="3206417"/>
            <a:ext cx="35090" cy="35090"/>
          </a:xfrm>
          <a:prstGeom prst="ellipse">
            <a:avLst/>
          </a:prstGeom>
          <a:solidFill>
            <a:srgbClr val="00C8FF">
              <a:alpha val="30000"/>
            </a:srgbClr>
          </a:solidFill>
          <a:ln/>
        </p:spPr>
      </p:sp>
      <p:sp>
        <p:nvSpPr>
          <p:cNvPr id="17" name="Shape 15"/>
          <p:cNvSpPr/>
          <p:nvPr/>
        </p:nvSpPr>
        <p:spPr>
          <a:xfrm>
            <a:off x="616463" y="1012985"/>
            <a:ext cx="39689" cy="39689"/>
          </a:xfrm>
          <a:prstGeom prst="ellipse">
            <a:avLst/>
          </a:prstGeom>
          <a:solidFill>
            <a:srgbClr val="00C8FF">
              <a:alpha val="30000"/>
            </a:srgbClr>
          </a:solidFill>
          <a:ln/>
        </p:spPr>
      </p:sp>
      <p:sp>
        <p:nvSpPr>
          <p:cNvPr id="18" name="Shape 16"/>
          <p:cNvSpPr/>
          <p:nvPr/>
        </p:nvSpPr>
        <p:spPr>
          <a:xfrm>
            <a:off x="6732545" y="1277762"/>
            <a:ext cx="59516" cy="59516"/>
          </a:xfrm>
          <a:prstGeom prst="ellipse">
            <a:avLst/>
          </a:prstGeom>
          <a:solidFill>
            <a:srgbClr val="00C8FF">
              <a:alpha val="30000"/>
            </a:srgbClr>
          </a:solidFill>
          <a:ln/>
        </p:spPr>
      </p:sp>
      <p:sp>
        <p:nvSpPr>
          <p:cNvPr id="19" name="Shape 17"/>
          <p:cNvSpPr/>
          <p:nvPr/>
        </p:nvSpPr>
        <p:spPr>
          <a:xfrm>
            <a:off x="2733339" y="1456462"/>
            <a:ext cx="19099" cy="19099"/>
          </a:xfrm>
          <a:prstGeom prst="ellipse">
            <a:avLst/>
          </a:prstGeom>
          <a:solidFill>
            <a:srgbClr val="00C8FF">
              <a:alpha val="30000"/>
            </a:srgbClr>
          </a:solidFill>
          <a:ln/>
        </p:spPr>
      </p:sp>
      <p:sp>
        <p:nvSpPr>
          <p:cNvPr id="20" name="Shape 18"/>
          <p:cNvSpPr/>
          <p:nvPr/>
        </p:nvSpPr>
        <p:spPr>
          <a:xfrm>
            <a:off x="2085873" y="2672604"/>
            <a:ext cx="27086" cy="27086"/>
          </a:xfrm>
          <a:prstGeom prst="ellipse">
            <a:avLst/>
          </a:prstGeom>
          <a:solidFill>
            <a:srgbClr val="00C8FF">
              <a:alpha val="30000"/>
            </a:srgbClr>
          </a:solidFill>
          <a:ln/>
        </p:spPr>
      </p:sp>
      <p:sp>
        <p:nvSpPr>
          <p:cNvPr id="21" name="Shape 19"/>
          <p:cNvSpPr/>
          <p:nvPr/>
        </p:nvSpPr>
        <p:spPr>
          <a:xfrm>
            <a:off x="7138938" y="2710328"/>
            <a:ext cx="61466" cy="61466"/>
          </a:xfrm>
          <a:prstGeom prst="ellipse">
            <a:avLst/>
          </a:prstGeom>
          <a:solidFill>
            <a:srgbClr val="00C8FF">
              <a:alpha val="30000"/>
            </a:srgbClr>
          </a:solidFill>
          <a:ln/>
        </p:spPr>
      </p:sp>
      <p:sp>
        <p:nvSpPr>
          <p:cNvPr id="22" name="Shape 20"/>
          <p:cNvSpPr/>
          <p:nvPr/>
        </p:nvSpPr>
        <p:spPr>
          <a:xfrm>
            <a:off x="2277777" y="4080035"/>
            <a:ext cx="20505" cy="20505"/>
          </a:xfrm>
          <a:prstGeom prst="ellipse">
            <a:avLst/>
          </a:prstGeom>
          <a:solidFill>
            <a:srgbClr val="00C8FF">
              <a:alpha val="30000"/>
            </a:srgbClr>
          </a:solidFill>
          <a:ln/>
        </p:spPr>
      </p:sp>
      <p:sp>
        <p:nvSpPr>
          <p:cNvPr id="23" name="Shape 21"/>
          <p:cNvSpPr/>
          <p:nvPr/>
        </p:nvSpPr>
        <p:spPr>
          <a:xfrm>
            <a:off x="2023125" y="740704"/>
            <a:ext cx="25206" cy="25206"/>
          </a:xfrm>
          <a:prstGeom prst="ellipse">
            <a:avLst/>
          </a:prstGeom>
          <a:solidFill>
            <a:srgbClr val="00C8FF">
              <a:alpha val="30000"/>
            </a:srgbClr>
          </a:solidFill>
          <a:ln/>
        </p:spPr>
      </p:sp>
      <p:sp>
        <p:nvSpPr>
          <p:cNvPr id="24" name="Shape 22"/>
          <p:cNvSpPr/>
          <p:nvPr/>
        </p:nvSpPr>
        <p:spPr>
          <a:xfrm>
            <a:off x="6395918" y="3320754"/>
            <a:ext cx="28102" cy="28102"/>
          </a:xfrm>
          <a:prstGeom prst="ellipse">
            <a:avLst/>
          </a:prstGeom>
          <a:solidFill>
            <a:srgbClr val="00C8FF">
              <a:alpha val="30000"/>
            </a:srgbClr>
          </a:solidFill>
          <a:ln/>
        </p:spPr>
      </p:sp>
      <p:sp>
        <p:nvSpPr>
          <p:cNvPr id="25" name="Shape 23"/>
          <p:cNvSpPr/>
          <p:nvPr/>
        </p:nvSpPr>
        <p:spPr>
          <a:xfrm>
            <a:off x="468273" y="2258987"/>
            <a:ext cx="55641" cy="55641"/>
          </a:xfrm>
          <a:prstGeom prst="ellipse">
            <a:avLst/>
          </a:prstGeom>
          <a:solidFill>
            <a:srgbClr val="00C8FF">
              <a:alpha val="30000"/>
            </a:srgbClr>
          </a:solidFill>
          <a:ln/>
        </p:spPr>
      </p:sp>
      <p:sp>
        <p:nvSpPr>
          <p:cNvPr id="26" name="Shape 24"/>
          <p:cNvSpPr/>
          <p:nvPr/>
        </p:nvSpPr>
        <p:spPr>
          <a:xfrm>
            <a:off x="4832719" y="3983572"/>
            <a:ext cx="43160" cy="43160"/>
          </a:xfrm>
          <a:prstGeom prst="ellipse">
            <a:avLst/>
          </a:prstGeom>
          <a:solidFill>
            <a:srgbClr val="00C8FF">
              <a:alpha val="30000"/>
            </a:srgbClr>
          </a:solidFill>
          <a:ln/>
        </p:spPr>
      </p:sp>
      <p:sp>
        <p:nvSpPr>
          <p:cNvPr id="27" name="Shape 25"/>
          <p:cNvSpPr/>
          <p:nvPr/>
        </p:nvSpPr>
        <p:spPr>
          <a:xfrm>
            <a:off x="6765292" y="2542070"/>
            <a:ext cx="27569" cy="27569"/>
          </a:xfrm>
          <a:prstGeom prst="ellipse">
            <a:avLst/>
          </a:prstGeom>
          <a:solidFill>
            <a:srgbClr val="00C8FF">
              <a:alpha val="30000"/>
            </a:srgbClr>
          </a:solidFill>
          <a:ln/>
        </p:spPr>
      </p:sp>
      <p:pic>
        <p:nvPicPr>
          <p:cNvPr id="28" name="Image 0" descr="preencoded.png">    </p:cNvPr>
          <p:cNvPicPr>
            <a:picLocks noChangeAspect="1"/>
          </p:cNvPicPr>
          <p:nvPr/>
        </p:nvPicPr>
        <p:blipFill>
          <a:blip r:embed="rId1"/>
          <a:stretch>
            <a:fillRect/>
          </a:stretch>
        </p:blipFill>
        <p:spPr>
          <a:xfrm>
            <a:off x="4160520" y="685800"/>
            <a:ext cx="822960" cy="822960"/>
          </a:xfrm>
          <a:prstGeom prst="rect">
            <a:avLst/>
          </a:prstGeom>
        </p:spPr>
      </p:pic>
      <p:sp>
        <p:nvSpPr>
          <p:cNvPr id="29" name="Text 26"/>
          <p:cNvSpPr/>
          <p:nvPr/>
        </p:nvSpPr>
        <p:spPr>
          <a:xfrm>
            <a:off x="457200" y="1600200"/>
            <a:ext cx="8229600" cy="1005840"/>
          </a:xfrm>
          <a:prstGeom prst="rect">
            <a:avLst/>
          </a:prstGeom>
          <a:noFill/>
          <a:ln/>
        </p:spPr>
        <p:txBody>
          <a:bodyPr wrap="square" lIns="0" tIns="0" rIns="0" bIns="0" rtlCol="0" anchor="ctr"/>
          <a:lstStyle/>
          <a:p>
            <a:pPr algn="ctr" indent="0" marL="0">
              <a:buNone/>
            </a:pPr>
            <a:r>
              <a:rPr lang="en-US" sz="6200" b="1" dirty="0">
                <a:solidFill>
                  <a:srgbClr val="00C8FF"/>
                </a:solidFill>
                <a:latin typeface="Arial" pitchFamily="34" charset="0"/>
                <a:ea typeface="Arial" pitchFamily="34" charset="-122"/>
                <a:cs typeface="Arial" pitchFamily="34" charset="-120"/>
              </a:rPr>
              <a:t>HillSafe </a:t>
            </a:r>
            <a:pPr algn="ctr" indent="0" marL="0">
              <a:buNone/>
            </a:pPr>
            <a:r>
              <a:rPr lang="en-US" sz="6200" b="1" dirty="0">
                <a:solidFill>
                  <a:srgbClr val="F2F8FD"/>
                </a:solidFill>
                <a:latin typeface="Arial" pitchFamily="34" charset="0"/>
                <a:ea typeface="Arial" pitchFamily="34" charset="-122"/>
                <a:cs typeface="Arial" pitchFamily="34" charset="-120"/>
              </a:rPr>
              <a:t>AI</a:t>
            </a:r>
            <a:endParaRPr lang="en-US" sz="6200" dirty="0"/>
          </a:p>
        </p:txBody>
      </p:sp>
      <p:sp>
        <p:nvSpPr>
          <p:cNvPr id="30" name="Text 27"/>
          <p:cNvSpPr/>
          <p:nvPr/>
        </p:nvSpPr>
        <p:spPr>
          <a:xfrm>
            <a:off x="457200" y="2697480"/>
            <a:ext cx="8229600" cy="320040"/>
          </a:xfrm>
          <a:prstGeom prst="rect">
            <a:avLst/>
          </a:prstGeom>
          <a:noFill/>
          <a:ln/>
        </p:spPr>
        <p:txBody>
          <a:bodyPr wrap="square" lIns="0" tIns="0" rIns="0" bIns="0" rtlCol="0" anchor="ctr"/>
          <a:lstStyle/>
          <a:p>
            <a:pPr algn="ctr" indent="0" marL="0">
              <a:buNone/>
            </a:pPr>
            <a:r>
              <a:rPr lang="en-US" sz="1300" spc="300" kern="0" dirty="0">
                <a:solidFill>
                  <a:srgbClr val="00E676"/>
                </a:solidFill>
                <a:latin typeface="Courier New" pitchFamily="34" charset="0"/>
                <a:ea typeface="Courier New" pitchFamily="34" charset="-122"/>
                <a:cs typeface="Courier New" pitchFamily="34" charset="-120"/>
              </a:rPr>
              <a:t>AI-POWERED MOUNTAIN ROAD SAFETY SYSTEM FOR J&amp;K INDIA</a:t>
            </a:r>
            <a:endParaRPr lang="en-US" sz="1300" dirty="0"/>
          </a:p>
        </p:txBody>
      </p:sp>
      <p:sp>
        <p:nvSpPr>
          <p:cNvPr id="31" name="Text 28"/>
          <p:cNvSpPr/>
          <p:nvPr/>
        </p:nvSpPr>
        <p:spPr>
          <a:xfrm>
            <a:off x="1371600" y="3154680"/>
            <a:ext cx="6400800" cy="603504"/>
          </a:xfrm>
          <a:prstGeom prst="rect">
            <a:avLst/>
          </a:prstGeom>
          <a:noFill/>
          <a:ln/>
        </p:spPr>
        <p:txBody>
          <a:bodyPr wrap="square" lIns="0" tIns="0" rIns="0" bIns="0" rtlCol="0" anchor="ctr"/>
          <a:lstStyle/>
          <a:p>
            <a:pPr algn="ctr" indent="0" marL="0">
              <a:buNone/>
            </a:pPr>
            <a:r>
              <a:rPr lang="en-US" sz="1400" dirty="0">
                <a:solidFill>
                  <a:srgbClr val="7E97AD"/>
                </a:solidFill>
                <a:latin typeface="Arial" pitchFamily="34" charset="0"/>
                <a:ea typeface="Arial" pitchFamily="34" charset="-122"/>
                <a:cs typeface="Arial" pitchFamily="34" charset="-120"/>
              </a:rPr>
              <a:t>Cutting emergency response time from 34 minutes to 11 minutes</a:t>
            </a:r>
            <a:endParaRPr lang="en-US" sz="1400" dirty="0"/>
          </a:p>
          <a:p>
            <a:pPr algn="ctr" indent="0" marL="0">
              <a:buNone/>
            </a:pPr>
            <a:r>
              <a:rPr lang="en-US" sz="1400" dirty="0">
                <a:solidFill>
                  <a:srgbClr val="7E97AD"/>
                </a:solidFill>
                <a:latin typeface="Arial" pitchFamily="34" charset="0"/>
                <a:ea typeface="Arial" pitchFamily="34" charset="-122"/>
                <a:cs typeface="Arial" pitchFamily="34" charset="-120"/>
              </a:rPr>
              <a:t>on the world's most dangerous mountain highways</a:t>
            </a:r>
            <a:endParaRPr lang="en-US" sz="1400" dirty="0"/>
          </a:p>
        </p:txBody>
      </p:sp>
      <p:sp>
        <p:nvSpPr>
          <p:cNvPr id="32" name="Shape 29"/>
          <p:cNvSpPr/>
          <p:nvPr/>
        </p:nvSpPr>
        <p:spPr>
          <a:xfrm>
            <a:off x="2560320" y="4069080"/>
            <a:ext cx="4023360" cy="566928"/>
          </a:xfrm>
          <a:prstGeom prst="roundRect">
            <a:avLst>
              <a:gd name="adj" fmla="val 12903"/>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33" name="Text 30"/>
          <p:cNvSpPr/>
          <p:nvPr/>
        </p:nvSpPr>
        <p:spPr>
          <a:xfrm>
            <a:off x="2560320" y="4069080"/>
            <a:ext cx="4023360" cy="566928"/>
          </a:xfrm>
          <a:prstGeom prst="rect">
            <a:avLst/>
          </a:prstGeom>
          <a:noFill/>
          <a:ln/>
        </p:spPr>
        <p:txBody>
          <a:bodyPr wrap="square" lIns="0" tIns="0" rIns="0" bIns="0" rtlCol="0" anchor="ctr"/>
          <a:lstStyle/>
          <a:p>
            <a:pPr algn="ctr" indent="0" marL="0">
              <a:buNone/>
            </a:pPr>
            <a:r>
              <a:rPr lang="en-US" sz="1300" b="1" dirty="0">
                <a:solidFill>
                  <a:srgbClr val="F2F8FD"/>
                </a:solidFill>
                <a:latin typeface="Arial" pitchFamily="34" charset="0"/>
                <a:ea typeface="Arial" pitchFamily="34" charset="-122"/>
                <a:cs typeface="Arial" pitchFamily="34" charset="-120"/>
              </a:rPr>
              <a:t>SAFEER AHMED</a:t>
            </a:r>
            <a:pPr algn="ctr" indent="0" marL="0">
              <a:buNone/>
            </a:pPr>
            <a:r>
              <a:rPr lang="en-US" sz="1100" dirty="0">
                <a:solidFill>
                  <a:srgbClr val="7E97AD"/>
                </a:solidFill>
                <a:latin typeface="Arial" pitchFamily="34" charset="0"/>
                <a:ea typeface="Arial" pitchFamily="34" charset="-122"/>
                <a:cs typeface="Arial" pitchFamily="34" charset="-120"/>
              </a:rPr>
              <a:t>   ·   B.Tech CSE  ·  J&amp;K India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01 · THE PROBLEM</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Mountain Roads Kill Silently</a:t>
            </a:r>
            <a:endParaRPr lang="en-US" sz="3000" dirty="0"/>
          </a:p>
        </p:txBody>
      </p:sp>
      <p:sp>
        <p:nvSpPr>
          <p:cNvPr id="4" name="Shape 2"/>
          <p:cNvSpPr/>
          <p:nvPr/>
        </p:nvSpPr>
        <p:spPr>
          <a:xfrm>
            <a:off x="502920" y="1417320"/>
            <a:ext cx="1947672" cy="1965960"/>
          </a:xfrm>
          <a:prstGeom prst="roundRect">
            <a:avLst>
              <a:gd name="adj" fmla="val 3756"/>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1252728" y="1627632"/>
            <a:ext cx="438912" cy="438912"/>
          </a:xfrm>
          <a:prstGeom prst="rect">
            <a:avLst/>
          </a:prstGeom>
        </p:spPr>
      </p:pic>
      <p:sp>
        <p:nvSpPr>
          <p:cNvPr id="6" name="Text 3"/>
          <p:cNvSpPr/>
          <p:nvPr/>
        </p:nvSpPr>
        <p:spPr>
          <a:xfrm>
            <a:off x="502920" y="2148840"/>
            <a:ext cx="1947672" cy="502920"/>
          </a:xfrm>
          <a:prstGeom prst="rect">
            <a:avLst/>
          </a:prstGeom>
          <a:noFill/>
          <a:ln/>
        </p:spPr>
        <p:txBody>
          <a:bodyPr wrap="square" lIns="0" tIns="0" rIns="0" bIns="0" rtlCol="0" anchor="ctr"/>
          <a:lstStyle/>
          <a:p>
            <a:pPr algn="ctr" indent="0" marL="0">
              <a:buNone/>
            </a:pPr>
            <a:r>
              <a:rPr lang="en-US" sz="2800" b="1" dirty="0">
                <a:solidFill>
                  <a:srgbClr val="FF4D4D"/>
                </a:solidFill>
                <a:latin typeface="Arial" pitchFamily="34" charset="0"/>
                <a:ea typeface="Arial" pitchFamily="34" charset="-122"/>
                <a:cs typeface="Arial" pitchFamily="34" charset="-120"/>
              </a:rPr>
              <a:t>34 min</a:t>
            </a:r>
            <a:endParaRPr lang="en-US" sz="2800" dirty="0"/>
          </a:p>
        </p:txBody>
      </p:sp>
      <p:sp>
        <p:nvSpPr>
          <p:cNvPr id="7" name="Text 4"/>
          <p:cNvSpPr/>
          <p:nvPr/>
        </p:nvSpPr>
        <p:spPr>
          <a:xfrm>
            <a:off x="594360" y="2697480"/>
            <a:ext cx="1764792" cy="566928"/>
          </a:xfrm>
          <a:prstGeom prst="rect">
            <a:avLst/>
          </a:prstGeom>
          <a:noFill/>
          <a:ln/>
        </p:spPr>
        <p:txBody>
          <a:bodyPr wrap="square" lIns="0" tIns="0" rIns="0" bIns="0" rtlCol="0" anchor="ctr"/>
          <a:lstStyle/>
          <a:p>
            <a:pPr algn="ctr" indent="0" marL="0">
              <a:buNone/>
            </a:pPr>
            <a:r>
              <a:rPr lang="en-US" sz="1050" dirty="0">
                <a:solidFill>
                  <a:srgbClr val="7E97AD"/>
                </a:solidFill>
                <a:latin typeface="Arial" pitchFamily="34" charset="0"/>
                <a:ea typeface="Arial" pitchFamily="34" charset="-122"/>
                <a:cs typeface="Arial" pitchFamily="34" charset="-120"/>
              </a:rPr>
              <a:t>Average emergency</a:t>
            </a:r>
            <a:endParaRPr lang="en-US" sz="1050" dirty="0"/>
          </a:p>
          <a:p>
            <a:pPr algn="ctr" indent="0" marL="0">
              <a:buNone/>
            </a:pPr>
            <a:r>
              <a:rPr lang="en-US" sz="1050" dirty="0">
                <a:solidFill>
                  <a:srgbClr val="7E97AD"/>
                </a:solidFill>
                <a:latin typeface="Arial" pitchFamily="34" charset="0"/>
                <a:ea typeface="Arial" pitchFamily="34" charset="-122"/>
                <a:cs typeface="Arial" pitchFamily="34" charset="-120"/>
              </a:rPr>
              <a:t>response time</a:t>
            </a:r>
            <a:endParaRPr lang="en-US" sz="1050" dirty="0"/>
          </a:p>
        </p:txBody>
      </p:sp>
      <p:sp>
        <p:nvSpPr>
          <p:cNvPr id="8" name="Shape 5"/>
          <p:cNvSpPr/>
          <p:nvPr/>
        </p:nvSpPr>
        <p:spPr>
          <a:xfrm>
            <a:off x="2633472" y="1417320"/>
            <a:ext cx="1947672" cy="1965960"/>
          </a:xfrm>
          <a:prstGeom prst="roundRect">
            <a:avLst>
              <a:gd name="adj" fmla="val 3756"/>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3383280" y="1627632"/>
            <a:ext cx="438912" cy="438912"/>
          </a:xfrm>
          <a:prstGeom prst="rect">
            <a:avLst/>
          </a:prstGeom>
        </p:spPr>
      </p:pic>
      <p:sp>
        <p:nvSpPr>
          <p:cNvPr id="10" name="Text 6"/>
          <p:cNvSpPr/>
          <p:nvPr/>
        </p:nvSpPr>
        <p:spPr>
          <a:xfrm>
            <a:off x="2633472" y="2148840"/>
            <a:ext cx="1947672" cy="502920"/>
          </a:xfrm>
          <a:prstGeom prst="rect">
            <a:avLst/>
          </a:prstGeom>
          <a:noFill/>
          <a:ln/>
        </p:spPr>
        <p:txBody>
          <a:bodyPr wrap="square" lIns="0" tIns="0" rIns="0" bIns="0" rtlCol="0" anchor="ctr"/>
          <a:lstStyle/>
          <a:p>
            <a:pPr algn="ctr" indent="0" marL="0">
              <a:buNone/>
            </a:pPr>
            <a:r>
              <a:rPr lang="en-US" sz="2800" b="1" dirty="0">
                <a:solidFill>
                  <a:srgbClr val="FF4D4D"/>
                </a:solidFill>
                <a:latin typeface="Arial" pitchFamily="34" charset="0"/>
                <a:ea typeface="Arial" pitchFamily="34" charset="-122"/>
                <a:cs typeface="Arial" pitchFamily="34" charset="-120"/>
              </a:rPr>
              <a:t>4,670</a:t>
            </a:r>
            <a:endParaRPr lang="en-US" sz="2800" dirty="0"/>
          </a:p>
        </p:txBody>
      </p:sp>
      <p:sp>
        <p:nvSpPr>
          <p:cNvPr id="11" name="Text 7"/>
          <p:cNvSpPr/>
          <p:nvPr/>
        </p:nvSpPr>
        <p:spPr>
          <a:xfrm>
            <a:off x="2724912" y="2697480"/>
            <a:ext cx="1764792" cy="566928"/>
          </a:xfrm>
          <a:prstGeom prst="rect">
            <a:avLst/>
          </a:prstGeom>
          <a:noFill/>
          <a:ln/>
        </p:spPr>
        <p:txBody>
          <a:bodyPr wrap="square" lIns="0" tIns="0" rIns="0" bIns="0" rtlCol="0" anchor="ctr"/>
          <a:lstStyle/>
          <a:p>
            <a:pPr algn="ctr" indent="0" marL="0">
              <a:buNone/>
            </a:pPr>
            <a:r>
              <a:rPr lang="en-US" sz="1050" dirty="0">
                <a:solidFill>
                  <a:srgbClr val="7E97AD"/>
                </a:solidFill>
                <a:latin typeface="Arial" pitchFamily="34" charset="0"/>
                <a:ea typeface="Arial" pitchFamily="34" charset="-122"/>
                <a:cs typeface="Arial" pitchFamily="34" charset="-120"/>
              </a:rPr>
              <a:t>Road accidents in</a:t>
            </a:r>
            <a:endParaRPr lang="en-US" sz="1050" dirty="0"/>
          </a:p>
          <a:p>
            <a:pPr algn="ctr" indent="0" marL="0">
              <a:buNone/>
            </a:pPr>
            <a:r>
              <a:rPr lang="en-US" sz="1050" dirty="0">
                <a:solidFill>
                  <a:srgbClr val="7E97AD"/>
                </a:solidFill>
                <a:latin typeface="Arial" pitchFamily="34" charset="0"/>
                <a:ea typeface="Arial" pitchFamily="34" charset="-122"/>
                <a:cs typeface="Arial" pitchFamily="34" charset="-120"/>
              </a:rPr>
              <a:t>J&amp;K every year</a:t>
            </a:r>
            <a:endParaRPr lang="en-US" sz="1050" dirty="0"/>
          </a:p>
        </p:txBody>
      </p:sp>
      <p:sp>
        <p:nvSpPr>
          <p:cNvPr id="12" name="Shape 8"/>
          <p:cNvSpPr/>
          <p:nvPr/>
        </p:nvSpPr>
        <p:spPr>
          <a:xfrm>
            <a:off x="4764024" y="1417320"/>
            <a:ext cx="1947672" cy="1965960"/>
          </a:xfrm>
          <a:prstGeom prst="roundRect">
            <a:avLst>
              <a:gd name="adj" fmla="val 3756"/>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5513832" y="1627632"/>
            <a:ext cx="438912" cy="438912"/>
          </a:xfrm>
          <a:prstGeom prst="rect">
            <a:avLst/>
          </a:prstGeom>
        </p:spPr>
      </p:pic>
      <p:sp>
        <p:nvSpPr>
          <p:cNvPr id="14" name="Text 9"/>
          <p:cNvSpPr/>
          <p:nvPr/>
        </p:nvSpPr>
        <p:spPr>
          <a:xfrm>
            <a:off x="4764024" y="2148840"/>
            <a:ext cx="1947672" cy="502920"/>
          </a:xfrm>
          <a:prstGeom prst="rect">
            <a:avLst/>
          </a:prstGeom>
          <a:noFill/>
          <a:ln/>
        </p:spPr>
        <p:txBody>
          <a:bodyPr wrap="square" lIns="0" tIns="0" rIns="0" bIns="0" rtlCol="0" anchor="ctr"/>
          <a:lstStyle/>
          <a:p>
            <a:pPr algn="ctr" indent="0" marL="0">
              <a:buNone/>
            </a:pPr>
            <a:r>
              <a:rPr lang="en-US" sz="2800" b="1" dirty="0">
                <a:solidFill>
                  <a:srgbClr val="FFA033"/>
                </a:solidFill>
                <a:latin typeface="Arial" pitchFamily="34" charset="0"/>
                <a:ea typeface="Arial" pitchFamily="34" charset="-122"/>
                <a:cs typeface="Arial" pitchFamily="34" charset="-120"/>
              </a:rPr>
              <a:t>0%</a:t>
            </a:r>
            <a:endParaRPr lang="en-US" sz="2800" dirty="0"/>
          </a:p>
        </p:txBody>
      </p:sp>
      <p:sp>
        <p:nvSpPr>
          <p:cNvPr id="15" name="Text 10"/>
          <p:cNvSpPr/>
          <p:nvPr/>
        </p:nvSpPr>
        <p:spPr>
          <a:xfrm>
            <a:off x="4855464" y="2697480"/>
            <a:ext cx="1764792" cy="566928"/>
          </a:xfrm>
          <a:prstGeom prst="rect">
            <a:avLst/>
          </a:prstGeom>
          <a:noFill/>
          <a:ln/>
        </p:spPr>
        <p:txBody>
          <a:bodyPr wrap="square" lIns="0" tIns="0" rIns="0" bIns="0" rtlCol="0" anchor="ctr"/>
          <a:lstStyle/>
          <a:p>
            <a:pPr algn="ctr" indent="0" marL="0">
              <a:buNone/>
            </a:pPr>
            <a:r>
              <a:rPr lang="en-US" sz="1050" dirty="0">
                <a:solidFill>
                  <a:srgbClr val="7E97AD"/>
                </a:solidFill>
                <a:latin typeface="Arial" pitchFamily="34" charset="0"/>
                <a:ea typeface="Arial" pitchFamily="34" charset="-122"/>
                <a:cs typeface="Arial" pitchFamily="34" charset="-120"/>
              </a:rPr>
              <a:t>Mobile signal at</a:t>
            </a:r>
            <a:endParaRPr lang="en-US" sz="1050" dirty="0"/>
          </a:p>
          <a:p>
            <a:pPr algn="ctr" indent="0" marL="0">
              <a:buNone/>
            </a:pPr>
            <a:r>
              <a:rPr lang="en-US" sz="1050" dirty="0">
                <a:solidFill>
                  <a:srgbClr val="7E97AD"/>
                </a:solidFill>
                <a:latin typeface="Arial" pitchFamily="34" charset="0"/>
                <a:ea typeface="Arial" pitchFamily="34" charset="-122"/>
                <a:cs typeface="Arial" pitchFamily="34" charset="-120"/>
              </a:rPr>
              <a:t>Banihal Pass</a:t>
            </a:r>
            <a:endParaRPr lang="en-US" sz="1050" dirty="0"/>
          </a:p>
        </p:txBody>
      </p:sp>
      <p:sp>
        <p:nvSpPr>
          <p:cNvPr id="16" name="Shape 11"/>
          <p:cNvSpPr/>
          <p:nvPr/>
        </p:nvSpPr>
        <p:spPr>
          <a:xfrm>
            <a:off x="6894576" y="1417320"/>
            <a:ext cx="1947672" cy="1965960"/>
          </a:xfrm>
          <a:prstGeom prst="roundRect">
            <a:avLst>
              <a:gd name="adj" fmla="val 3756"/>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7644384" y="1627632"/>
            <a:ext cx="438912" cy="438912"/>
          </a:xfrm>
          <a:prstGeom prst="rect">
            <a:avLst/>
          </a:prstGeom>
        </p:spPr>
      </p:pic>
      <p:sp>
        <p:nvSpPr>
          <p:cNvPr id="18" name="Text 12"/>
          <p:cNvSpPr/>
          <p:nvPr/>
        </p:nvSpPr>
        <p:spPr>
          <a:xfrm>
            <a:off x="6894576" y="2148840"/>
            <a:ext cx="1947672" cy="502920"/>
          </a:xfrm>
          <a:prstGeom prst="rect">
            <a:avLst/>
          </a:prstGeom>
          <a:noFill/>
          <a:ln/>
        </p:spPr>
        <p:txBody>
          <a:bodyPr wrap="square" lIns="0" tIns="0" rIns="0" bIns="0" rtlCol="0" anchor="ctr"/>
          <a:lstStyle/>
          <a:p>
            <a:pPr algn="ctr" indent="0" marL="0">
              <a:buNone/>
            </a:pPr>
            <a:r>
              <a:rPr lang="en-US" sz="2800" b="1" dirty="0">
                <a:solidFill>
                  <a:srgbClr val="FFA033"/>
                </a:solidFill>
                <a:latin typeface="Arial" pitchFamily="34" charset="0"/>
                <a:ea typeface="Arial" pitchFamily="34" charset="-122"/>
                <a:cs typeface="Arial" pitchFamily="34" charset="-120"/>
              </a:rPr>
              <a:t>2,832 m</a:t>
            </a:r>
            <a:endParaRPr lang="en-US" sz="2800" dirty="0"/>
          </a:p>
        </p:txBody>
      </p:sp>
      <p:sp>
        <p:nvSpPr>
          <p:cNvPr id="19" name="Text 13"/>
          <p:cNvSpPr/>
          <p:nvPr/>
        </p:nvSpPr>
        <p:spPr>
          <a:xfrm>
            <a:off x="6986016" y="2697480"/>
            <a:ext cx="1764792" cy="566928"/>
          </a:xfrm>
          <a:prstGeom prst="rect">
            <a:avLst/>
          </a:prstGeom>
          <a:noFill/>
          <a:ln/>
        </p:spPr>
        <p:txBody>
          <a:bodyPr wrap="square" lIns="0" tIns="0" rIns="0" bIns="0" rtlCol="0" anchor="ctr"/>
          <a:lstStyle/>
          <a:p>
            <a:pPr algn="ctr" indent="0" marL="0">
              <a:buNone/>
            </a:pPr>
            <a:r>
              <a:rPr lang="en-US" sz="1050" dirty="0">
                <a:solidFill>
                  <a:srgbClr val="7E97AD"/>
                </a:solidFill>
                <a:latin typeface="Arial" pitchFamily="34" charset="0"/>
                <a:ea typeface="Arial" pitchFamily="34" charset="-122"/>
                <a:cs typeface="Arial" pitchFamily="34" charset="-120"/>
              </a:rPr>
              <a:t>Altitude of India's</a:t>
            </a:r>
            <a:endParaRPr lang="en-US" sz="1050" dirty="0"/>
          </a:p>
          <a:p>
            <a:pPr algn="ctr" indent="0" marL="0">
              <a:buNone/>
            </a:pPr>
            <a:r>
              <a:rPr lang="en-US" sz="1050" dirty="0">
                <a:solidFill>
                  <a:srgbClr val="7E97AD"/>
                </a:solidFill>
                <a:latin typeface="Arial" pitchFamily="34" charset="0"/>
                <a:ea typeface="Arial" pitchFamily="34" charset="-122"/>
                <a:cs typeface="Arial" pitchFamily="34" charset="-120"/>
              </a:rPr>
              <a:t>deadliest highway</a:t>
            </a:r>
            <a:endParaRPr lang="en-US" sz="1050" dirty="0"/>
          </a:p>
        </p:txBody>
      </p:sp>
      <p:sp>
        <p:nvSpPr>
          <p:cNvPr id="20" name="Shape 14"/>
          <p:cNvSpPr/>
          <p:nvPr/>
        </p:nvSpPr>
        <p:spPr>
          <a:xfrm>
            <a:off x="502920" y="3703320"/>
            <a:ext cx="8138160" cy="914400"/>
          </a:xfrm>
          <a:prstGeom prst="roundRect">
            <a:avLst>
              <a:gd name="adj" fmla="val 8000"/>
            </a:avLst>
          </a:prstGeom>
          <a:solidFill>
            <a:srgbClr val="1A0E14"/>
          </a:solidFill>
          <a:ln w="12700">
            <a:solidFill>
              <a:srgbClr val="FF4D4D"/>
            </a:solidFill>
            <a:prstDash val="solid"/>
          </a:ln>
        </p:spPr>
      </p:sp>
      <p:sp>
        <p:nvSpPr>
          <p:cNvPr id="21" name="Text 15"/>
          <p:cNvSpPr/>
          <p:nvPr/>
        </p:nvSpPr>
        <p:spPr>
          <a:xfrm>
            <a:off x="777240" y="3703320"/>
            <a:ext cx="7589520" cy="914400"/>
          </a:xfrm>
          <a:prstGeom prst="rect">
            <a:avLst/>
          </a:prstGeom>
          <a:noFill/>
          <a:ln/>
        </p:spPr>
        <p:txBody>
          <a:bodyPr wrap="square" lIns="0" tIns="0" rIns="0" bIns="0" rtlCol="0" anchor="ctr"/>
          <a:lstStyle/>
          <a:p>
            <a:pPr indent="0" marL="0">
              <a:buNone/>
            </a:pPr>
            <a:r>
              <a:rPr lang="en-US" sz="1250" dirty="0">
                <a:solidFill>
                  <a:srgbClr val="F2F8FD"/>
                </a:solidFill>
                <a:latin typeface="Arial" pitchFamily="34" charset="0"/>
                <a:ea typeface="Arial" pitchFamily="34" charset="-122"/>
                <a:cs typeface="Arial" pitchFamily="34" charset="-120"/>
              </a:rPr>
              <a:t>Sharp blind curves · dense fog · black ice · steep descents · no connectivity.  </a:t>
            </a:r>
            <a:pPr indent="0" marL="0">
              <a:buNone/>
            </a:pPr>
            <a:r>
              <a:rPr lang="en-US" sz="1250" b="1" i="1" dirty="0">
                <a:solidFill>
                  <a:srgbClr val="FF4D4D"/>
                </a:solidFill>
                <a:latin typeface="Arial" pitchFamily="34" charset="0"/>
                <a:ea typeface="Arial" pitchFamily="34" charset="-122"/>
                <a:cs typeface="Arial" pitchFamily="34" charset="-120"/>
              </a:rPr>
              <a:t>When a crash happens, nobody knows — until it is too late.</a:t>
            </a:r>
            <a:endParaRPr lang="en-US" sz="1250" dirty="0"/>
          </a:p>
        </p:txBody>
      </p:sp>
      <p:sp>
        <p:nvSpPr>
          <p:cNvPr id="22" name="Text 16"/>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02 · THE SOLUTION</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AI That Acts in Milliseconds, Not Minutes</a:t>
            </a:r>
            <a:endParaRPr lang="en-US" sz="3000" dirty="0"/>
          </a:p>
        </p:txBody>
      </p:sp>
      <p:sp>
        <p:nvSpPr>
          <p:cNvPr id="4" name="Text 2"/>
          <p:cNvSpPr/>
          <p:nvPr/>
        </p:nvSpPr>
        <p:spPr>
          <a:xfrm>
            <a:off x="502920" y="1371600"/>
            <a:ext cx="4663440" cy="1737360"/>
          </a:xfrm>
          <a:prstGeom prst="rect">
            <a:avLst/>
          </a:prstGeom>
          <a:noFill/>
          <a:ln/>
        </p:spPr>
        <p:txBody>
          <a:bodyPr wrap="square" lIns="0" tIns="0" rIns="0" bIns="0" rtlCol="0" anchor="ctr"/>
          <a:lstStyle/>
          <a:p>
            <a:pPr indent="0" marL="0">
              <a:buNone/>
            </a:pPr>
            <a:r>
              <a:rPr lang="en-US" sz="1350" dirty="0">
                <a:solidFill>
                  <a:srgbClr val="F2F8FD"/>
                </a:solidFill>
                <a:latin typeface="Arial" pitchFamily="34" charset="0"/>
                <a:ea typeface="Arial" pitchFamily="34" charset="-122"/>
                <a:cs typeface="Arial" pitchFamily="34" charset="-120"/>
              </a:rPr>
              <a:t>HillSafe AI monitors every vehicle, every danger zone, and every weather condition simultaneously. The moment an anomaly is detected — brake failure, overspeed, crash — it responds instantly: clearing ambulance routes, alerting nearby vehicles, and notifying hospitals before a human could pick up the phone.</a:t>
            </a:r>
            <a:endParaRPr lang="en-US" sz="1350" dirty="0"/>
          </a:p>
        </p:txBody>
      </p:sp>
      <p:sp>
        <p:nvSpPr>
          <p:cNvPr id="5" name="Shape 3"/>
          <p:cNvSpPr/>
          <p:nvPr/>
        </p:nvSpPr>
        <p:spPr>
          <a:xfrm>
            <a:off x="5486400" y="1371600"/>
            <a:ext cx="3154680" cy="731520"/>
          </a:xfrm>
          <a:prstGeom prst="roundRect">
            <a:avLst>
              <a:gd name="adj" fmla="val 8750"/>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5669280" y="1371600"/>
            <a:ext cx="1325880" cy="731520"/>
          </a:xfrm>
          <a:prstGeom prst="rect">
            <a:avLst/>
          </a:prstGeom>
          <a:noFill/>
          <a:ln/>
        </p:spPr>
        <p:txBody>
          <a:bodyPr wrap="square" lIns="0" tIns="0" rIns="0" bIns="0" rtlCol="0" anchor="ctr"/>
          <a:lstStyle/>
          <a:p>
            <a:pPr indent="0" marL="0">
              <a:buNone/>
            </a:pPr>
            <a:r>
              <a:rPr lang="en-US" sz="2200" b="1" dirty="0">
                <a:solidFill>
                  <a:srgbClr val="00E676"/>
                </a:solidFill>
                <a:latin typeface="Arial" pitchFamily="34" charset="0"/>
                <a:ea typeface="Arial" pitchFamily="34" charset="-122"/>
                <a:cs typeface="Arial" pitchFamily="34" charset="-120"/>
              </a:rPr>
              <a:t>11 min</a:t>
            </a:r>
            <a:endParaRPr lang="en-US" sz="2200" dirty="0"/>
          </a:p>
        </p:txBody>
      </p:sp>
      <p:sp>
        <p:nvSpPr>
          <p:cNvPr id="7" name="Text 5"/>
          <p:cNvSpPr/>
          <p:nvPr/>
        </p:nvSpPr>
        <p:spPr>
          <a:xfrm>
            <a:off x="6949440" y="1371600"/>
            <a:ext cx="1645920" cy="731520"/>
          </a:xfrm>
          <a:prstGeom prst="rect">
            <a:avLst/>
          </a:prstGeom>
          <a:noFill/>
          <a:ln/>
        </p:spPr>
        <p:txBody>
          <a:bodyPr wrap="square" lIns="0" tIns="0" rIns="0" bIns="0" rtlCol="0" anchor="ctr"/>
          <a:lstStyle/>
          <a:p>
            <a:pPr indent="0" marL="0">
              <a:buNone/>
            </a:pPr>
            <a:r>
              <a:rPr lang="en-US" sz="900" spc="100" kern="0" dirty="0">
                <a:solidFill>
                  <a:srgbClr val="7E97AD"/>
                </a:solidFill>
                <a:latin typeface="Courier New" pitchFamily="34" charset="0"/>
                <a:ea typeface="Courier New" pitchFamily="34" charset="-122"/>
                <a:cs typeface="Courier New" pitchFamily="34" charset="-120"/>
              </a:rPr>
              <a:t>NEW RESPONSE TIME</a:t>
            </a:r>
            <a:endParaRPr lang="en-US" sz="900" dirty="0"/>
          </a:p>
        </p:txBody>
      </p:sp>
      <p:sp>
        <p:nvSpPr>
          <p:cNvPr id="8" name="Shape 6"/>
          <p:cNvSpPr/>
          <p:nvPr/>
        </p:nvSpPr>
        <p:spPr>
          <a:xfrm>
            <a:off x="5486400" y="2212848"/>
            <a:ext cx="3154680" cy="731520"/>
          </a:xfrm>
          <a:prstGeom prst="roundRect">
            <a:avLst>
              <a:gd name="adj" fmla="val 8750"/>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5669280" y="2212848"/>
            <a:ext cx="1325880" cy="731520"/>
          </a:xfrm>
          <a:prstGeom prst="rect">
            <a:avLst/>
          </a:prstGeom>
          <a:noFill/>
          <a:ln/>
        </p:spPr>
        <p:txBody>
          <a:bodyPr wrap="square" lIns="0" tIns="0" rIns="0" bIns="0" rtlCol="0" anchor="ctr"/>
          <a:lstStyle/>
          <a:p>
            <a:pPr indent="0" marL="0">
              <a:buNone/>
            </a:pPr>
            <a:r>
              <a:rPr lang="en-US" sz="2200" b="1" dirty="0">
                <a:solidFill>
                  <a:srgbClr val="00C8FF"/>
                </a:solidFill>
                <a:latin typeface="Arial" pitchFamily="34" charset="0"/>
                <a:ea typeface="Arial" pitchFamily="34" charset="-122"/>
                <a:cs typeface="Arial" pitchFamily="34" charset="-120"/>
              </a:rPr>
              <a:t>&lt; 0.5 s</a:t>
            </a:r>
            <a:endParaRPr lang="en-US" sz="2200" dirty="0"/>
          </a:p>
        </p:txBody>
      </p:sp>
      <p:sp>
        <p:nvSpPr>
          <p:cNvPr id="10" name="Text 8"/>
          <p:cNvSpPr/>
          <p:nvPr/>
        </p:nvSpPr>
        <p:spPr>
          <a:xfrm>
            <a:off x="6949440" y="2212848"/>
            <a:ext cx="1645920" cy="731520"/>
          </a:xfrm>
          <a:prstGeom prst="rect">
            <a:avLst/>
          </a:prstGeom>
          <a:noFill/>
          <a:ln/>
        </p:spPr>
        <p:txBody>
          <a:bodyPr wrap="square" lIns="0" tIns="0" rIns="0" bIns="0" rtlCol="0" anchor="ctr"/>
          <a:lstStyle/>
          <a:p>
            <a:pPr indent="0" marL="0">
              <a:buNone/>
            </a:pPr>
            <a:r>
              <a:rPr lang="en-US" sz="900" spc="100" kern="0" dirty="0">
                <a:solidFill>
                  <a:srgbClr val="7E97AD"/>
                </a:solidFill>
                <a:latin typeface="Courier New" pitchFamily="34" charset="0"/>
                <a:ea typeface="Courier New" pitchFamily="34" charset="-122"/>
                <a:cs typeface="Courier New" pitchFamily="34" charset="-120"/>
              </a:rPr>
              <a:t>CASCADE ALERT SPEED</a:t>
            </a:r>
            <a:endParaRPr lang="en-US" sz="900" dirty="0"/>
          </a:p>
        </p:txBody>
      </p:sp>
      <p:sp>
        <p:nvSpPr>
          <p:cNvPr id="11" name="Shape 9"/>
          <p:cNvSpPr/>
          <p:nvPr/>
        </p:nvSpPr>
        <p:spPr>
          <a:xfrm>
            <a:off x="5486400" y="3054096"/>
            <a:ext cx="3154680" cy="731520"/>
          </a:xfrm>
          <a:prstGeom prst="roundRect">
            <a:avLst>
              <a:gd name="adj" fmla="val 8750"/>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5669280" y="3054096"/>
            <a:ext cx="1325880" cy="731520"/>
          </a:xfrm>
          <a:prstGeom prst="rect">
            <a:avLst/>
          </a:prstGeom>
          <a:noFill/>
          <a:ln/>
        </p:spPr>
        <p:txBody>
          <a:bodyPr wrap="square" lIns="0" tIns="0" rIns="0" bIns="0" rtlCol="0" anchor="ctr"/>
          <a:lstStyle/>
          <a:p>
            <a:pPr indent="0" marL="0">
              <a:buNone/>
            </a:pPr>
            <a:r>
              <a:rPr lang="en-US" sz="2200" b="1" dirty="0">
                <a:solidFill>
                  <a:srgbClr val="FFA033"/>
                </a:solidFill>
                <a:latin typeface="Arial" pitchFamily="34" charset="0"/>
                <a:ea typeface="Arial" pitchFamily="34" charset="-122"/>
                <a:cs typeface="Arial" pitchFamily="34" charset="-120"/>
              </a:rPr>
              <a:t>87%</a:t>
            </a:r>
            <a:endParaRPr lang="en-US" sz="2200" dirty="0"/>
          </a:p>
        </p:txBody>
      </p:sp>
      <p:sp>
        <p:nvSpPr>
          <p:cNvPr id="13" name="Text 11"/>
          <p:cNvSpPr/>
          <p:nvPr/>
        </p:nvSpPr>
        <p:spPr>
          <a:xfrm>
            <a:off x="6949440" y="3054096"/>
            <a:ext cx="1645920" cy="731520"/>
          </a:xfrm>
          <a:prstGeom prst="rect">
            <a:avLst/>
          </a:prstGeom>
          <a:noFill/>
          <a:ln/>
        </p:spPr>
        <p:txBody>
          <a:bodyPr wrap="square" lIns="0" tIns="0" rIns="0" bIns="0" rtlCol="0" anchor="ctr"/>
          <a:lstStyle/>
          <a:p>
            <a:pPr indent="0" marL="0">
              <a:buNone/>
            </a:pPr>
            <a:r>
              <a:rPr lang="en-US" sz="900" spc="100" kern="0" dirty="0">
                <a:solidFill>
                  <a:srgbClr val="7E97AD"/>
                </a:solidFill>
                <a:latin typeface="Courier New" pitchFamily="34" charset="0"/>
                <a:ea typeface="Courier New" pitchFamily="34" charset="-122"/>
                <a:cs typeface="Courier New" pitchFamily="34" charset="-120"/>
              </a:rPr>
              <a:t>ML PREDICTION ACCURACY</a:t>
            </a:r>
            <a:endParaRPr lang="en-US" sz="900" dirty="0"/>
          </a:p>
        </p:txBody>
      </p:sp>
      <p:sp>
        <p:nvSpPr>
          <p:cNvPr id="14" name="Shape 12"/>
          <p:cNvSpPr/>
          <p:nvPr/>
        </p:nvSpPr>
        <p:spPr>
          <a:xfrm>
            <a:off x="5486400" y="3895344"/>
            <a:ext cx="3154680" cy="731520"/>
          </a:xfrm>
          <a:prstGeom prst="roundRect">
            <a:avLst>
              <a:gd name="adj" fmla="val 8750"/>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5669280" y="3895344"/>
            <a:ext cx="1325880" cy="731520"/>
          </a:xfrm>
          <a:prstGeom prst="rect">
            <a:avLst/>
          </a:prstGeom>
          <a:noFill/>
          <a:ln/>
        </p:spPr>
        <p:txBody>
          <a:bodyPr wrap="square" lIns="0" tIns="0" rIns="0" bIns="0" rtlCol="0" anchor="ctr"/>
          <a:lstStyle/>
          <a:p>
            <a:pPr indent="0" marL="0">
              <a:buNone/>
            </a:pPr>
            <a:r>
              <a:rPr lang="en-US" sz="2200" b="1" dirty="0">
                <a:solidFill>
                  <a:srgbClr val="00C8FF"/>
                </a:solidFill>
                <a:latin typeface="Arial" pitchFamily="34" charset="0"/>
                <a:ea typeface="Arial" pitchFamily="34" charset="-122"/>
                <a:cs typeface="Arial" pitchFamily="34" charset="-120"/>
              </a:rPr>
              <a:t>100+</a:t>
            </a:r>
            <a:endParaRPr lang="en-US" sz="2200" dirty="0"/>
          </a:p>
        </p:txBody>
      </p:sp>
      <p:sp>
        <p:nvSpPr>
          <p:cNvPr id="16" name="Text 14"/>
          <p:cNvSpPr/>
          <p:nvPr/>
        </p:nvSpPr>
        <p:spPr>
          <a:xfrm>
            <a:off x="6949440" y="3895344"/>
            <a:ext cx="1645920" cy="731520"/>
          </a:xfrm>
          <a:prstGeom prst="rect">
            <a:avLst/>
          </a:prstGeom>
          <a:noFill/>
          <a:ln/>
        </p:spPr>
        <p:txBody>
          <a:bodyPr wrap="square" lIns="0" tIns="0" rIns="0" bIns="0" rtlCol="0" anchor="ctr"/>
          <a:lstStyle/>
          <a:p>
            <a:pPr indent="0" marL="0">
              <a:buNone/>
            </a:pPr>
            <a:r>
              <a:rPr lang="en-US" sz="900" spc="100" kern="0" dirty="0">
                <a:solidFill>
                  <a:srgbClr val="7E97AD"/>
                </a:solidFill>
                <a:latin typeface="Courier New" pitchFamily="34" charset="0"/>
                <a:ea typeface="Courier New" pitchFamily="34" charset="-122"/>
                <a:cs typeface="Courier New" pitchFamily="34" charset="-120"/>
              </a:rPr>
              <a:t>VEHICLES TRACKED LIVE</a:t>
            </a:r>
            <a:endParaRPr lang="en-US" sz="900" dirty="0"/>
          </a:p>
        </p:txBody>
      </p:sp>
      <p:pic>
        <p:nvPicPr>
          <p:cNvPr id="17" name="Image 0" descr="preencoded.png">    </p:cNvPr>
          <p:cNvPicPr>
            <a:picLocks noChangeAspect="1"/>
          </p:cNvPicPr>
          <p:nvPr/>
        </p:nvPicPr>
        <p:blipFill>
          <a:blip r:embed="rId1"/>
          <a:stretch>
            <a:fillRect/>
          </a:stretch>
        </p:blipFill>
        <p:spPr>
          <a:xfrm>
            <a:off x="502920" y="3401568"/>
            <a:ext cx="310896" cy="310896"/>
          </a:xfrm>
          <a:prstGeom prst="rect">
            <a:avLst/>
          </a:prstGeom>
        </p:spPr>
      </p:pic>
      <p:sp>
        <p:nvSpPr>
          <p:cNvPr id="18" name="Text 15"/>
          <p:cNvSpPr/>
          <p:nvPr/>
        </p:nvSpPr>
        <p:spPr>
          <a:xfrm>
            <a:off x="905256" y="3364992"/>
            <a:ext cx="1188720" cy="256032"/>
          </a:xfrm>
          <a:prstGeom prst="rect">
            <a:avLst/>
          </a:prstGeom>
          <a:noFill/>
          <a:ln/>
        </p:spPr>
        <p:txBody>
          <a:bodyPr wrap="square" lIns="0" tIns="0" rIns="0" bIns="0" rtlCol="0" anchor="ctr"/>
          <a:lstStyle/>
          <a:p>
            <a:pPr indent="0" marL="0">
              <a:buNone/>
            </a:pPr>
            <a:r>
              <a:rPr lang="en-US" sz="1200" b="1" dirty="0">
                <a:solidFill>
                  <a:srgbClr val="00C8FF"/>
                </a:solidFill>
                <a:latin typeface="Arial" pitchFamily="34" charset="0"/>
                <a:ea typeface="Arial" pitchFamily="34" charset="-122"/>
                <a:cs typeface="Arial" pitchFamily="34" charset="-120"/>
              </a:rPr>
              <a:t>DETECT</a:t>
            </a:r>
            <a:endParaRPr lang="en-US" sz="1200" dirty="0"/>
          </a:p>
        </p:txBody>
      </p:sp>
      <p:sp>
        <p:nvSpPr>
          <p:cNvPr id="19" name="Text 16"/>
          <p:cNvSpPr/>
          <p:nvPr/>
        </p:nvSpPr>
        <p:spPr>
          <a:xfrm>
            <a:off x="502920" y="3712464"/>
            <a:ext cx="1536192" cy="777240"/>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Real-time telemetry + AI danger scoring</a:t>
            </a:r>
            <a:endParaRPr lang="en-US" sz="950" dirty="0"/>
          </a:p>
        </p:txBody>
      </p:sp>
      <p:pic>
        <p:nvPicPr>
          <p:cNvPr id="20" name="Image 1" descr="preencoded.png">    </p:cNvPr>
          <p:cNvPicPr>
            <a:picLocks noChangeAspect="1"/>
          </p:cNvPicPr>
          <p:nvPr/>
        </p:nvPicPr>
        <p:blipFill>
          <a:blip r:embed="rId2"/>
          <a:stretch>
            <a:fillRect/>
          </a:stretch>
        </p:blipFill>
        <p:spPr>
          <a:xfrm>
            <a:off x="2130552" y="3401568"/>
            <a:ext cx="310896" cy="310896"/>
          </a:xfrm>
          <a:prstGeom prst="rect">
            <a:avLst/>
          </a:prstGeom>
        </p:spPr>
      </p:pic>
      <p:sp>
        <p:nvSpPr>
          <p:cNvPr id="21" name="Text 17"/>
          <p:cNvSpPr/>
          <p:nvPr/>
        </p:nvSpPr>
        <p:spPr>
          <a:xfrm>
            <a:off x="2532888" y="3364992"/>
            <a:ext cx="1188720" cy="256032"/>
          </a:xfrm>
          <a:prstGeom prst="rect">
            <a:avLst/>
          </a:prstGeom>
          <a:noFill/>
          <a:ln/>
        </p:spPr>
        <p:txBody>
          <a:bodyPr wrap="square" lIns="0" tIns="0" rIns="0" bIns="0" rtlCol="0" anchor="ctr"/>
          <a:lstStyle/>
          <a:p>
            <a:pPr indent="0" marL="0">
              <a:buNone/>
            </a:pPr>
            <a:r>
              <a:rPr lang="en-US" sz="1200" b="1" dirty="0">
                <a:solidFill>
                  <a:srgbClr val="00C8FF"/>
                </a:solidFill>
                <a:latin typeface="Arial" pitchFamily="34" charset="0"/>
                <a:ea typeface="Arial" pitchFamily="34" charset="-122"/>
                <a:cs typeface="Arial" pitchFamily="34" charset="-120"/>
              </a:rPr>
              <a:t>ALERT</a:t>
            </a:r>
            <a:endParaRPr lang="en-US" sz="1200" dirty="0"/>
          </a:p>
        </p:txBody>
      </p:sp>
      <p:sp>
        <p:nvSpPr>
          <p:cNvPr id="22" name="Text 18"/>
          <p:cNvSpPr/>
          <p:nvPr/>
        </p:nvSpPr>
        <p:spPr>
          <a:xfrm>
            <a:off x="2130552" y="3712464"/>
            <a:ext cx="1536192" cy="777240"/>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Cascade warnings to every nearby vehicle</a:t>
            </a:r>
            <a:endParaRPr lang="en-US" sz="950" dirty="0"/>
          </a:p>
        </p:txBody>
      </p:sp>
      <p:pic>
        <p:nvPicPr>
          <p:cNvPr id="23" name="Image 2" descr="preencoded.png">    </p:cNvPr>
          <p:cNvPicPr>
            <a:picLocks noChangeAspect="1"/>
          </p:cNvPicPr>
          <p:nvPr/>
        </p:nvPicPr>
        <p:blipFill>
          <a:blip r:embed="rId3"/>
          <a:stretch>
            <a:fillRect/>
          </a:stretch>
        </p:blipFill>
        <p:spPr>
          <a:xfrm>
            <a:off x="3758184" y="3401568"/>
            <a:ext cx="310896" cy="310896"/>
          </a:xfrm>
          <a:prstGeom prst="rect">
            <a:avLst/>
          </a:prstGeom>
        </p:spPr>
      </p:pic>
      <p:sp>
        <p:nvSpPr>
          <p:cNvPr id="24" name="Text 19"/>
          <p:cNvSpPr/>
          <p:nvPr/>
        </p:nvSpPr>
        <p:spPr>
          <a:xfrm>
            <a:off x="4160520" y="3364992"/>
            <a:ext cx="1188720" cy="256032"/>
          </a:xfrm>
          <a:prstGeom prst="rect">
            <a:avLst/>
          </a:prstGeom>
          <a:noFill/>
          <a:ln/>
        </p:spPr>
        <p:txBody>
          <a:bodyPr wrap="square" lIns="0" tIns="0" rIns="0" bIns="0" rtlCol="0" anchor="ctr"/>
          <a:lstStyle/>
          <a:p>
            <a:pPr indent="0" marL="0">
              <a:buNone/>
            </a:pPr>
            <a:r>
              <a:rPr lang="en-US" sz="1200" b="1" dirty="0">
                <a:solidFill>
                  <a:srgbClr val="00C8FF"/>
                </a:solidFill>
                <a:latin typeface="Arial" pitchFamily="34" charset="0"/>
                <a:ea typeface="Arial" pitchFamily="34" charset="-122"/>
                <a:cs typeface="Arial" pitchFamily="34" charset="-120"/>
              </a:rPr>
              <a:t>RESPOND</a:t>
            </a:r>
            <a:endParaRPr lang="en-US" sz="1200" dirty="0"/>
          </a:p>
        </p:txBody>
      </p:sp>
      <p:sp>
        <p:nvSpPr>
          <p:cNvPr id="25" name="Text 20"/>
          <p:cNvSpPr/>
          <p:nvPr/>
        </p:nvSpPr>
        <p:spPr>
          <a:xfrm>
            <a:off x="3758184" y="3712464"/>
            <a:ext cx="1536192" cy="777240"/>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Green Corridor clears the ambulance route</a:t>
            </a:r>
            <a:endParaRPr lang="en-US" sz="950" dirty="0"/>
          </a:p>
        </p:txBody>
      </p:sp>
      <p:sp>
        <p:nvSpPr>
          <p:cNvPr id="26" name="Text 21"/>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03 · SYSTEM FLOW</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From Crash to Hospital — Fully Automated</a:t>
            </a:r>
            <a:endParaRPr lang="en-US" sz="3000" dirty="0"/>
          </a:p>
        </p:txBody>
      </p:sp>
      <p:sp>
        <p:nvSpPr>
          <p:cNvPr id="4" name="Shape 2"/>
          <p:cNvSpPr/>
          <p:nvPr/>
        </p:nvSpPr>
        <p:spPr>
          <a:xfrm>
            <a:off x="886968" y="1600200"/>
            <a:ext cx="777240" cy="777240"/>
          </a:xfrm>
          <a:prstGeom prst="ellipse">
            <a:avLst/>
          </a:prstGeom>
          <a:solidFill>
            <a:srgbClr val="16253F"/>
          </a:solidFill>
          <a:ln w="19050">
            <a:solidFill>
              <a:srgbClr val="00C8FF"/>
            </a:solidFill>
            <a:prstDash val="solid"/>
          </a:ln>
        </p:spPr>
      </p:sp>
      <p:pic>
        <p:nvPicPr>
          <p:cNvPr id="5" name="Image 0" descr="preencoded.png">    </p:cNvPr>
          <p:cNvPicPr>
            <a:picLocks noChangeAspect="1"/>
          </p:cNvPicPr>
          <p:nvPr/>
        </p:nvPicPr>
        <p:blipFill>
          <a:blip r:embed="rId1"/>
          <a:stretch>
            <a:fillRect/>
          </a:stretch>
        </p:blipFill>
        <p:spPr>
          <a:xfrm>
            <a:off x="1069848" y="1783080"/>
            <a:ext cx="411480" cy="411480"/>
          </a:xfrm>
          <a:prstGeom prst="rect">
            <a:avLst/>
          </a:prstGeom>
        </p:spPr>
      </p:pic>
      <p:sp>
        <p:nvSpPr>
          <p:cNvPr id="6" name="Shape 3"/>
          <p:cNvSpPr/>
          <p:nvPr/>
        </p:nvSpPr>
        <p:spPr>
          <a:xfrm>
            <a:off x="1490472" y="1536192"/>
            <a:ext cx="274320" cy="274320"/>
          </a:xfrm>
          <a:prstGeom prst="ellipse">
            <a:avLst/>
          </a:prstGeom>
          <a:solidFill>
            <a:srgbClr val="00C8FF"/>
          </a:solidFill>
          <a:ln/>
        </p:spPr>
      </p:sp>
      <p:sp>
        <p:nvSpPr>
          <p:cNvPr id="7" name="Text 4"/>
          <p:cNvSpPr/>
          <p:nvPr/>
        </p:nvSpPr>
        <p:spPr>
          <a:xfrm>
            <a:off x="1490472" y="1536192"/>
            <a:ext cx="274320" cy="274320"/>
          </a:xfrm>
          <a:prstGeom prst="rect">
            <a:avLst/>
          </a:prstGeom>
          <a:noFill/>
          <a:ln/>
        </p:spPr>
        <p:txBody>
          <a:bodyPr wrap="square" lIns="0" tIns="0" rIns="0" bIns="0" rtlCol="0" anchor="ctr"/>
          <a:lstStyle/>
          <a:p>
            <a:pPr algn="ctr" indent="0" marL="0">
              <a:buNone/>
            </a:pPr>
            <a:r>
              <a:rPr lang="en-US" sz="1100" b="1" dirty="0">
                <a:solidFill>
                  <a:srgbClr val="0A1322"/>
                </a:solidFill>
                <a:latin typeface="Arial" pitchFamily="34" charset="0"/>
                <a:ea typeface="Arial" pitchFamily="34" charset="-122"/>
                <a:cs typeface="Arial" pitchFamily="34" charset="-120"/>
              </a:rPr>
              <a:t>1</a:t>
            </a:r>
            <a:endParaRPr lang="en-US" sz="1100" dirty="0"/>
          </a:p>
        </p:txBody>
      </p:sp>
      <p:sp>
        <p:nvSpPr>
          <p:cNvPr id="8" name="Text 5"/>
          <p:cNvSpPr/>
          <p:nvPr/>
        </p:nvSpPr>
        <p:spPr>
          <a:xfrm>
            <a:off x="457200" y="2560320"/>
            <a:ext cx="1645920" cy="274320"/>
          </a:xfrm>
          <a:prstGeom prst="rect">
            <a:avLst/>
          </a:prstGeom>
          <a:noFill/>
          <a:ln/>
        </p:spPr>
        <p:txBody>
          <a:bodyPr wrap="square" lIns="0" tIns="0" rIns="0" bIns="0" rtlCol="0" anchor="ctr"/>
          <a:lstStyle/>
          <a:p>
            <a:pPr algn="ctr" indent="0" marL="0">
              <a:buNone/>
            </a:pPr>
            <a:r>
              <a:rPr lang="en-US" sz="1200" b="1" dirty="0">
                <a:solidFill>
                  <a:srgbClr val="F2F8FD"/>
                </a:solidFill>
                <a:latin typeface="Arial" pitchFamily="34" charset="0"/>
                <a:ea typeface="Arial" pitchFamily="34" charset="-122"/>
                <a:cs typeface="Arial" pitchFamily="34" charset="-120"/>
              </a:rPr>
              <a:t>TELEMETRY</a:t>
            </a:r>
            <a:endParaRPr lang="en-US" sz="1200" dirty="0"/>
          </a:p>
        </p:txBody>
      </p:sp>
      <p:sp>
        <p:nvSpPr>
          <p:cNvPr id="9" name="Text 6"/>
          <p:cNvSpPr/>
          <p:nvPr/>
        </p:nvSpPr>
        <p:spPr>
          <a:xfrm>
            <a:off x="457200" y="2852928"/>
            <a:ext cx="1645920" cy="685800"/>
          </a:xfrm>
          <a:prstGeom prst="rect">
            <a:avLst/>
          </a:prstGeom>
          <a:noFill/>
          <a:ln/>
        </p:spPr>
        <p:txBody>
          <a:bodyPr wrap="square" lIns="0" tIns="0" rIns="0" bIns="0" rtlCol="0" anchor="ctr"/>
          <a:lstStyle/>
          <a:p>
            <a:pPr algn="ctr" indent="0" marL="0">
              <a:buNone/>
            </a:pPr>
            <a:r>
              <a:rPr lang="en-US" sz="950" dirty="0">
                <a:solidFill>
                  <a:srgbClr val="7E97AD"/>
                </a:solidFill>
                <a:latin typeface="Arial" pitchFamily="34" charset="0"/>
                <a:ea typeface="Arial" pitchFamily="34" charset="-122"/>
                <a:cs typeface="Arial" pitchFamily="34" charset="-120"/>
              </a:rPr>
              <a:t>OBD-II + GPS data every 2 seconds</a:t>
            </a:r>
            <a:endParaRPr lang="en-US" sz="950" dirty="0"/>
          </a:p>
        </p:txBody>
      </p:sp>
      <p:sp>
        <p:nvSpPr>
          <p:cNvPr id="10" name="Shape 7"/>
          <p:cNvSpPr/>
          <p:nvPr/>
        </p:nvSpPr>
        <p:spPr>
          <a:xfrm>
            <a:off x="1764792" y="1984248"/>
            <a:ext cx="384048" cy="0"/>
          </a:xfrm>
          <a:prstGeom prst="line">
            <a:avLst/>
          </a:prstGeom>
          <a:noFill/>
          <a:ln w="19050">
            <a:solidFill>
              <a:srgbClr val="44607A"/>
            </a:solidFill>
            <a:prstDash val="dash"/>
            <a:tailEnd type="arrow"/>
          </a:ln>
        </p:spPr>
      </p:sp>
      <p:sp>
        <p:nvSpPr>
          <p:cNvPr id="11" name="Shape 8"/>
          <p:cNvSpPr/>
          <p:nvPr/>
        </p:nvSpPr>
        <p:spPr>
          <a:xfrm>
            <a:off x="2578608" y="1600200"/>
            <a:ext cx="777240" cy="777240"/>
          </a:xfrm>
          <a:prstGeom prst="ellipse">
            <a:avLst/>
          </a:prstGeom>
          <a:solidFill>
            <a:srgbClr val="16253F"/>
          </a:solidFill>
          <a:ln w="19050">
            <a:solidFill>
              <a:srgbClr val="00C8FF"/>
            </a:solidFill>
            <a:prstDash val="solid"/>
          </a:ln>
        </p:spPr>
      </p:sp>
      <p:pic>
        <p:nvPicPr>
          <p:cNvPr id="12" name="Image 1" descr="preencoded.png">    </p:cNvPr>
          <p:cNvPicPr>
            <a:picLocks noChangeAspect="1"/>
          </p:cNvPicPr>
          <p:nvPr/>
        </p:nvPicPr>
        <p:blipFill>
          <a:blip r:embed="rId2"/>
          <a:stretch>
            <a:fillRect/>
          </a:stretch>
        </p:blipFill>
        <p:spPr>
          <a:xfrm>
            <a:off x="2761488" y="1783080"/>
            <a:ext cx="411480" cy="411480"/>
          </a:xfrm>
          <a:prstGeom prst="rect">
            <a:avLst/>
          </a:prstGeom>
        </p:spPr>
      </p:pic>
      <p:sp>
        <p:nvSpPr>
          <p:cNvPr id="13" name="Shape 9"/>
          <p:cNvSpPr/>
          <p:nvPr/>
        </p:nvSpPr>
        <p:spPr>
          <a:xfrm>
            <a:off x="3182112" y="1536192"/>
            <a:ext cx="274320" cy="274320"/>
          </a:xfrm>
          <a:prstGeom prst="ellipse">
            <a:avLst/>
          </a:prstGeom>
          <a:solidFill>
            <a:srgbClr val="00C8FF"/>
          </a:solidFill>
          <a:ln/>
        </p:spPr>
      </p:sp>
      <p:sp>
        <p:nvSpPr>
          <p:cNvPr id="14" name="Text 10"/>
          <p:cNvSpPr/>
          <p:nvPr/>
        </p:nvSpPr>
        <p:spPr>
          <a:xfrm>
            <a:off x="3182112" y="1536192"/>
            <a:ext cx="274320" cy="274320"/>
          </a:xfrm>
          <a:prstGeom prst="rect">
            <a:avLst/>
          </a:prstGeom>
          <a:noFill/>
          <a:ln/>
        </p:spPr>
        <p:txBody>
          <a:bodyPr wrap="square" lIns="0" tIns="0" rIns="0" bIns="0" rtlCol="0" anchor="ctr"/>
          <a:lstStyle/>
          <a:p>
            <a:pPr algn="ctr" indent="0" marL="0">
              <a:buNone/>
            </a:pPr>
            <a:r>
              <a:rPr lang="en-US" sz="1100" b="1" dirty="0">
                <a:solidFill>
                  <a:srgbClr val="0A1322"/>
                </a:solidFill>
                <a:latin typeface="Arial" pitchFamily="34" charset="0"/>
                <a:ea typeface="Arial" pitchFamily="34" charset="-122"/>
                <a:cs typeface="Arial" pitchFamily="34" charset="-120"/>
              </a:rPr>
              <a:t>2</a:t>
            </a:r>
            <a:endParaRPr lang="en-US" sz="1100" dirty="0"/>
          </a:p>
        </p:txBody>
      </p:sp>
      <p:sp>
        <p:nvSpPr>
          <p:cNvPr id="15" name="Text 11"/>
          <p:cNvSpPr/>
          <p:nvPr/>
        </p:nvSpPr>
        <p:spPr>
          <a:xfrm>
            <a:off x="2148840" y="2560320"/>
            <a:ext cx="1645920" cy="274320"/>
          </a:xfrm>
          <a:prstGeom prst="rect">
            <a:avLst/>
          </a:prstGeom>
          <a:noFill/>
          <a:ln/>
        </p:spPr>
        <p:txBody>
          <a:bodyPr wrap="square" lIns="0" tIns="0" rIns="0" bIns="0" rtlCol="0" anchor="ctr"/>
          <a:lstStyle/>
          <a:p>
            <a:pPr algn="ctr" indent="0" marL="0">
              <a:buNone/>
            </a:pPr>
            <a:r>
              <a:rPr lang="en-US" sz="1200" b="1" dirty="0">
                <a:solidFill>
                  <a:srgbClr val="F2F8FD"/>
                </a:solidFill>
                <a:latin typeface="Arial" pitchFamily="34" charset="0"/>
                <a:ea typeface="Arial" pitchFamily="34" charset="-122"/>
                <a:cs typeface="Arial" pitchFamily="34" charset="-120"/>
              </a:rPr>
              <a:t>AI SCORING</a:t>
            </a:r>
            <a:endParaRPr lang="en-US" sz="1200" dirty="0"/>
          </a:p>
        </p:txBody>
      </p:sp>
      <p:sp>
        <p:nvSpPr>
          <p:cNvPr id="16" name="Text 12"/>
          <p:cNvSpPr/>
          <p:nvPr/>
        </p:nvSpPr>
        <p:spPr>
          <a:xfrm>
            <a:off x="2148840" y="2852928"/>
            <a:ext cx="1645920" cy="685800"/>
          </a:xfrm>
          <a:prstGeom prst="rect">
            <a:avLst/>
          </a:prstGeom>
          <a:noFill/>
          <a:ln/>
        </p:spPr>
        <p:txBody>
          <a:bodyPr wrap="square" lIns="0" tIns="0" rIns="0" bIns="0" rtlCol="0" anchor="ctr"/>
          <a:lstStyle/>
          <a:p>
            <a:pPr algn="ctr" indent="0" marL="0">
              <a:buNone/>
            </a:pPr>
            <a:r>
              <a:rPr lang="en-US" sz="950" dirty="0">
                <a:solidFill>
                  <a:srgbClr val="7E97AD"/>
                </a:solidFill>
                <a:latin typeface="Arial" pitchFamily="34" charset="0"/>
                <a:ea typeface="Arial" pitchFamily="34" charset="-122"/>
                <a:cs typeface="Arial" pitchFamily="34" charset="-120"/>
              </a:rPr>
              <a:t>XGBoost rates danger 0–1 using 25 features</a:t>
            </a:r>
            <a:endParaRPr lang="en-US" sz="950" dirty="0"/>
          </a:p>
        </p:txBody>
      </p:sp>
      <p:sp>
        <p:nvSpPr>
          <p:cNvPr id="17" name="Shape 13"/>
          <p:cNvSpPr/>
          <p:nvPr/>
        </p:nvSpPr>
        <p:spPr>
          <a:xfrm>
            <a:off x="3456432" y="1984248"/>
            <a:ext cx="384048" cy="0"/>
          </a:xfrm>
          <a:prstGeom prst="line">
            <a:avLst/>
          </a:prstGeom>
          <a:noFill/>
          <a:ln w="19050">
            <a:solidFill>
              <a:srgbClr val="44607A"/>
            </a:solidFill>
            <a:prstDash val="dash"/>
            <a:tailEnd type="arrow"/>
          </a:ln>
        </p:spPr>
      </p:sp>
      <p:sp>
        <p:nvSpPr>
          <p:cNvPr id="18" name="Shape 14"/>
          <p:cNvSpPr/>
          <p:nvPr/>
        </p:nvSpPr>
        <p:spPr>
          <a:xfrm>
            <a:off x="4270248" y="1600200"/>
            <a:ext cx="777240" cy="777240"/>
          </a:xfrm>
          <a:prstGeom prst="ellipse">
            <a:avLst/>
          </a:prstGeom>
          <a:solidFill>
            <a:srgbClr val="16253F"/>
          </a:solidFill>
          <a:ln w="19050">
            <a:solidFill>
              <a:srgbClr val="00C8FF"/>
            </a:solidFill>
            <a:prstDash val="solid"/>
          </a:ln>
        </p:spPr>
      </p:sp>
      <p:pic>
        <p:nvPicPr>
          <p:cNvPr id="19" name="Image 2" descr="preencoded.png">    </p:cNvPr>
          <p:cNvPicPr>
            <a:picLocks noChangeAspect="1"/>
          </p:cNvPicPr>
          <p:nvPr/>
        </p:nvPicPr>
        <p:blipFill>
          <a:blip r:embed="rId3"/>
          <a:stretch>
            <a:fillRect/>
          </a:stretch>
        </p:blipFill>
        <p:spPr>
          <a:xfrm>
            <a:off x="4453128" y="1783080"/>
            <a:ext cx="411480" cy="411480"/>
          </a:xfrm>
          <a:prstGeom prst="rect">
            <a:avLst/>
          </a:prstGeom>
        </p:spPr>
      </p:pic>
      <p:sp>
        <p:nvSpPr>
          <p:cNvPr id="20" name="Shape 15"/>
          <p:cNvSpPr/>
          <p:nvPr/>
        </p:nvSpPr>
        <p:spPr>
          <a:xfrm>
            <a:off x="4873752" y="1536192"/>
            <a:ext cx="274320" cy="274320"/>
          </a:xfrm>
          <a:prstGeom prst="ellipse">
            <a:avLst/>
          </a:prstGeom>
          <a:solidFill>
            <a:srgbClr val="00C8FF"/>
          </a:solidFill>
          <a:ln/>
        </p:spPr>
      </p:sp>
      <p:sp>
        <p:nvSpPr>
          <p:cNvPr id="21" name="Text 16"/>
          <p:cNvSpPr/>
          <p:nvPr/>
        </p:nvSpPr>
        <p:spPr>
          <a:xfrm>
            <a:off x="4873752" y="1536192"/>
            <a:ext cx="274320" cy="274320"/>
          </a:xfrm>
          <a:prstGeom prst="rect">
            <a:avLst/>
          </a:prstGeom>
          <a:noFill/>
          <a:ln/>
        </p:spPr>
        <p:txBody>
          <a:bodyPr wrap="square" lIns="0" tIns="0" rIns="0" bIns="0" rtlCol="0" anchor="ctr"/>
          <a:lstStyle/>
          <a:p>
            <a:pPr algn="ctr" indent="0" marL="0">
              <a:buNone/>
            </a:pPr>
            <a:r>
              <a:rPr lang="en-US" sz="1100" b="1" dirty="0">
                <a:solidFill>
                  <a:srgbClr val="0A1322"/>
                </a:solidFill>
                <a:latin typeface="Arial" pitchFamily="34" charset="0"/>
                <a:ea typeface="Arial" pitchFamily="34" charset="-122"/>
                <a:cs typeface="Arial" pitchFamily="34" charset="-120"/>
              </a:rPr>
              <a:t>3</a:t>
            </a:r>
            <a:endParaRPr lang="en-US" sz="1100" dirty="0"/>
          </a:p>
        </p:txBody>
      </p:sp>
      <p:sp>
        <p:nvSpPr>
          <p:cNvPr id="22" name="Text 17"/>
          <p:cNvSpPr/>
          <p:nvPr/>
        </p:nvSpPr>
        <p:spPr>
          <a:xfrm>
            <a:off x="3840480" y="2560320"/>
            <a:ext cx="1645920" cy="274320"/>
          </a:xfrm>
          <a:prstGeom prst="rect">
            <a:avLst/>
          </a:prstGeom>
          <a:noFill/>
          <a:ln/>
        </p:spPr>
        <p:txBody>
          <a:bodyPr wrap="square" lIns="0" tIns="0" rIns="0" bIns="0" rtlCol="0" anchor="ctr"/>
          <a:lstStyle/>
          <a:p>
            <a:pPr algn="ctr" indent="0" marL="0">
              <a:buNone/>
            </a:pPr>
            <a:r>
              <a:rPr lang="en-US" sz="1200" b="1" dirty="0">
                <a:solidFill>
                  <a:srgbClr val="F2F8FD"/>
                </a:solidFill>
                <a:latin typeface="Arial" pitchFamily="34" charset="0"/>
                <a:ea typeface="Arial" pitchFamily="34" charset="-122"/>
                <a:cs typeface="Arial" pitchFamily="34" charset="-120"/>
              </a:rPr>
              <a:t>DETECTION</a:t>
            </a:r>
            <a:endParaRPr lang="en-US" sz="1200" dirty="0"/>
          </a:p>
        </p:txBody>
      </p:sp>
      <p:sp>
        <p:nvSpPr>
          <p:cNvPr id="23" name="Text 18"/>
          <p:cNvSpPr/>
          <p:nvPr/>
        </p:nvSpPr>
        <p:spPr>
          <a:xfrm>
            <a:off x="3840480" y="2852928"/>
            <a:ext cx="1645920" cy="685800"/>
          </a:xfrm>
          <a:prstGeom prst="rect">
            <a:avLst/>
          </a:prstGeom>
          <a:noFill/>
          <a:ln/>
        </p:spPr>
        <p:txBody>
          <a:bodyPr wrap="square" lIns="0" tIns="0" rIns="0" bIns="0" rtlCol="0" anchor="ctr"/>
          <a:lstStyle/>
          <a:p>
            <a:pPr algn="ctr" indent="0" marL="0">
              <a:buNone/>
            </a:pPr>
            <a:r>
              <a:rPr lang="en-US" sz="950" dirty="0">
                <a:solidFill>
                  <a:srgbClr val="7E97AD"/>
                </a:solidFill>
                <a:latin typeface="Arial" pitchFamily="34" charset="0"/>
                <a:ea typeface="Arial" pitchFamily="34" charset="-122"/>
                <a:cs typeface="Arial" pitchFamily="34" charset="-120"/>
              </a:rPr>
              <a:t>Crash / brake failure triggers instantly</a:t>
            </a:r>
            <a:endParaRPr lang="en-US" sz="950" dirty="0"/>
          </a:p>
        </p:txBody>
      </p:sp>
      <p:sp>
        <p:nvSpPr>
          <p:cNvPr id="24" name="Shape 19"/>
          <p:cNvSpPr/>
          <p:nvPr/>
        </p:nvSpPr>
        <p:spPr>
          <a:xfrm>
            <a:off x="5148072" y="1984248"/>
            <a:ext cx="384048" cy="0"/>
          </a:xfrm>
          <a:prstGeom prst="line">
            <a:avLst/>
          </a:prstGeom>
          <a:noFill/>
          <a:ln w="19050">
            <a:solidFill>
              <a:srgbClr val="44607A"/>
            </a:solidFill>
            <a:prstDash val="dash"/>
            <a:tailEnd type="arrow"/>
          </a:ln>
        </p:spPr>
      </p:sp>
      <p:sp>
        <p:nvSpPr>
          <p:cNvPr id="25" name="Shape 20"/>
          <p:cNvSpPr/>
          <p:nvPr/>
        </p:nvSpPr>
        <p:spPr>
          <a:xfrm>
            <a:off x="5961888" y="1600200"/>
            <a:ext cx="777240" cy="777240"/>
          </a:xfrm>
          <a:prstGeom prst="ellipse">
            <a:avLst/>
          </a:prstGeom>
          <a:solidFill>
            <a:srgbClr val="16253F"/>
          </a:solidFill>
          <a:ln w="19050">
            <a:solidFill>
              <a:srgbClr val="00C8FF"/>
            </a:solidFill>
            <a:prstDash val="solid"/>
          </a:ln>
        </p:spPr>
      </p:sp>
      <p:pic>
        <p:nvPicPr>
          <p:cNvPr id="26" name="Image 3" descr="preencoded.png">    </p:cNvPr>
          <p:cNvPicPr>
            <a:picLocks noChangeAspect="1"/>
          </p:cNvPicPr>
          <p:nvPr/>
        </p:nvPicPr>
        <p:blipFill>
          <a:blip r:embed="rId4"/>
          <a:stretch>
            <a:fillRect/>
          </a:stretch>
        </p:blipFill>
        <p:spPr>
          <a:xfrm>
            <a:off x="6144768" y="1783080"/>
            <a:ext cx="411480" cy="411480"/>
          </a:xfrm>
          <a:prstGeom prst="rect">
            <a:avLst/>
          </a:prstGeom>
        </p:spPr>
      </p:pic>
      <p:sp>
        <p:nvSpPr>
          <p:cNvPr id="27" name="Shape 21"/>
          <p:cNvSpPr/>
          <p:nvPr/>
        </p:nvSpPr>
        <p:spPr>
          <a:xfrm>
            <a:off x="6565392" y="1536192"/>
            <a:ext cx="274320" cy="274320"/>
          </a:xfrm>
          <a:prstGeom prst="ellipse">
            <a:avLst/>
          </a:prstGeom>
          <a:solidFill>
            <a:srgbClr val="00C8FF"/>
          </a:solidFill>
          <a:ln/>
        </p:spPr>
      </p:sp>
      <p:sp>
        <p:nvSpPr>
          <p:cNvPr id="28" name="Text 22"/>
          <p:cNvSpPr/>
          <p:nvPr/>
        </p:nvSpPr>
        <p:spPr>
          <a:xfrm>
            <a:off x="6565392" y="1536192"/>
            <a:ext cx="274320" cy="274320"/>
          </a:xfrm>
          <a:prstGeom prst="rect">
            <a:avLst/>
          </a:prstGeom>
          <a:noFill/>
          <a:ln/>
        </p:spPr>
        <p:txBody>
          <a:bodyPr wrap="square" lIns="0" tIns="0" rIns="0" bIns="0" rtlCol="0" anchor="ctr"/>
          <a:lstStyle/>
          <a:p>
            <a:pPr algn="ctr" indent="0" marL="0">
              <a:buNone/>
            </a:pPr>
            <a:r>
              <a:rPr lang="en-US" sz="1100" b="1" dirty="0">
                <a:solidFill>
                  <a:srgbClr val="0A1322"/>
                </a:solidFill>
                <a:latin typeface="Arial" pitchFamily="34" charset="0"/>
                <a:ea typeface="Arial" pitchFamily="34" charset="-122"/>
                <a:cs typeface="Arial" pitchFamily="34" charset="-120"/>
              </a:rPr>
              <a:t>4</a:t>
            </a:r>
            <a:endParaRPr lang="en-US" sz="1100" dirty="0"/>
          </a:p>
        </p:txBody>
      </p:sp>
      <p:sp>
        <p:nvSpPr>
          <p:cNvPr id="29" name="Text 23"/>
          <p:cNvSpPr/>
          <p:nvPr/>
        </p:nvSpPr>
        <p:spPr>
          <a:xfrm>
            <a:off x="5532120" y="2560320"/>
            <a:ext cx="1645920" cy="274320"/>
          </a:xfrm>
          <a:prstGeom prst="rect">
            <a:avLst/>
          </a:prstGeom>
          <a:noFill/>
          <a:ln/>
        </p:spPr>
        <p:txBody>
          <a:bodyPr wrap="square" lIns="0" tIns="0" rIns="0" bIns="0" rtlCol="0" anchor="ctr"/>
          <a:lstStyle/>
          <a:p>
            <a:pPr algn="ctr" indent="0" marL="0">
              <a:buNone/>
            </a:pPr>
            <a:r>
              <a:rPr lang="en-US" sz="1200" b="1" dirty="0">
                <a:solidFill>
                  <a:srgbClr val="F2F8FD"/>
                </a:solidFill>
                <a:latin typeface="Arial" pitchFamily="34" charset="0"/>
                <a:ea typeface="Arial" pitchFamily="34" charset="-122"/>
                <a:cs typeface="Arial" pitchFamily="34" charset="-120"/>
              </a:rPr>
              <a:t>CORRIDOR</a:t>
            </a:r>
            <a:endParaRPr lang="en-US" sz="1200" dirty="0"/>
          </a:p>
        </p:txBody>
      </p:sp>
      <p:sp>
        <p:nvSpPr>
          <p:cNvPr id="30" name="Text 24"/>
          <p:cNvSpPr/>
          <p:nvPr/>
        </p:nvSpPr>
        <p:spPr>
          <a:xfrm>
            <a:off x="5532120" y="2852928"/>
            <a:ext cx="1645920" cy="685800"/>
          </a:xfrm>
          <a:prstGeom prst="rect">
            <a:avLst/>
          </a:prstGeom>
          <a:noFill/>
          <a:ln/>
        </p:spPr>
        <p:txBody>
          <a:bodyPr wrap="square" lIns="0" tIns="0" rIns="0" bIns="0" rtlCol="0" anchor="ctr"/>
          <a:lstStyle/>
          <a:p>
            <a:pPr algn="ctr" indent="0" marL="0">
              <a:buNone/>
            </a:pPr>
            <a:r>
              <a:rPr lang="en-US" sz="950" dirty="0">
                <a:solidFill>
                  <a:srgbClr val="7E97AD"/>
                </a:solidFill>
                <a:latin typeface="Arial" pitchFamily="34" charset="0"/>
                <a:ea typeface="Arial" pitchFamily="34" charset="-122"/>
                <a:cs typeface="Arial" pitchFamily="34" charset="-120"/>
              </a:rPr>
              <a:t>Route vehicles alerted &amp; pulled aside</a:t>
            </a:r>
            <a:endParaRPr lang="en-US" sz="950" dirty="0"/>
          </a:p>
        </p:txBody>
      </p:sp>
      <p:sp>
        <p:nvSpPr>
          <p:cNvPr id="31" name="Shape 25"/>
          <p:cNvSpPr/>
          <p:nvPr/>
        </p:nvSpPr>
        <p:spPr>
          <a:xfrm>
            <a:off x="6839712" y="1984248"/>
            <a:ext cx="384048" cy="0"/>
          </a:xfrm>
          <a:prstGeom prst="line">
            <a:avLst/>
          </a:prstGeom>
          <a:noFill/>
          <a:ln w="19050">
            <a:solidFill>
              <a:srgbClr val="44607A"/>
            </a:solidFill>
            <a:prstDash val="dash"/>
            <a:tailEnd type="arrow"/>
          </a:ln>
        </p:spPr>
      </p:sp>
      <p:sp>
        <p:nvSpPr>
          <p:cNvPr id="32" name="Shape 26"/>
          <p:cNvSpPr/>
          <p:nvPr/>
        </p:nvSpPr>
        <p:spPr>
          <a:xfrm>
            <a:off x="7653528" y="1600200"/>
            <a:ext cx="777240" cy="777240"/>
          </a:xfrm>
          <a:prstGeom prst="ellipse">
            <a:avLst/>
          </a:prstGeom>
          <a:solidFill>
            <a:srgbClr val="16253F"/>
          </a:solidFill>
          <a:ln w="19050">
            <a:solidFill>
              <a:srgbClr val="00C8FF"/>
            </a:solidFill>
            <a:prstDash val="solid"/>
          </a:ln>
        </p:spPr>
      </p:sp>
      <p:pic>
        <p:nvPicPr>
          <p:cNvPr id="33" name="Image 4" descr="preencoded.png">    </p:cNvPr>
          <p:cNvPicPr>
            <a:picLocks noChangeAspect="1"/>
          </p:cNvPicPr>
          <p:nvPr/>
        </p:nvPicPr>
        <p:blipFill>
          <a:blip r:embed="rId5"/>
          <a:stretch>
            <a:fillRect/>
          </a:stretch>
        </p:blipFill>
        <p:spPr>
          <a:xfrm>
            <a:off x="7836408" y="1783080"/>
            <a:ext cx="411480" cy="411480"/>
          </a:xfrm>
          <a:prstGeom prst="rect">
            <a:avLst/>
          </a:prstGeom>
        </p:spPr>
      </p:pic>
      <p:sp>
        <p:nvSpPr>
          <p:cNvPr id="34" name="Shape 27"/>
          <p:cNvSpPr/>
          <p:nvPr/>
        </p:nvSpPr>
        <p:spPr>
          <a:xfrm>
            <a:off x="8257032" y="1536192"/>
            <a:ext cx="274320" cy="274320"/>
          </a:xfrm>
          <a:prstGeom prst="ellipse">
            <a:avLst/>
          </a:prstGeom>
          <a:solidFill>
            <a:srgbClr val="00C8FF"/>
          </a:solidFill>
          <a:ln/>
        </p:spPr>
      </p:sp>
      <p:sp>
        <p:nvSpPr>
          <p:cNvPr id="35" name="Text 28"/>
          <p:cNvSpPr/>
          <p:nvPr/>
        </p:nvSpPr>
        <p:spPr>
          <a:xfrm>
            <a:off x="8257032" y="1536192"/>
            <a:ext cx="274320" cy="274320"/>
          </a:xfrm>
          <a:prstGeom prst="rect">
            <a:avLst/>
          </a:prstGeom>
          <a:noFill/>
          <a:ln/>
        </p:spPr>
        <p:txBody>
          <a:bodyPr wrap="square" lIns="0" tIns="0" rIns="0" bIns="0" rtlCol="0" anchor="ctr"/>
          <a:lstStyle/>
          <a:p>
            <a:pPr algn="ctr" indent="0" marL="0">
              <a:buNone/>
            </a:pPr>
            <a:r>
              <a:rPr lang="en-US" sz="1100" b="1" dirty="0">
                <a:solidFill>
                  <a:srgbClr val="0A1322"/>
                </a:solidFill>
                <a:latin typeface="Arial" pitchFamily="34" charset="0"/>
                <a:ea typeface="Arial" pitchFamily="34" charset="-122"/>
                <a:cs typeface="Arial" pitchFamily="34" charset="-120"/>
              </a:rPr>
              <a:t>5</a:t>
            </a:r>
            <a:endParaRPr lang="en-US" sz="1100" dirty="0"/>
          </a:p>
        </p:txBody>
      </p:sp>
      <p:sp>
        <p:nvSpPr>
          <p:cNvPr id="36" name="Text 29"/>
          <p:cNvSpPr/>
          <p:nvPr/>
        </p:nvSpPr>
        <p:spPr>
          <a:xfrm>
            <a:off x="7223760" y="2560320"/>
            <a:ext cx="1645920" cy="274320"/>
          </a:xfrm>
          <a:prstGeom prst="rect">
            <a:avLst/>
          </a:prstGeom>
          <a:noFill/>
          <a:ln/>
        </p:spPr>
        <p:txBody>
          <a:bodyPr wrap="square" lIns="0" tIns="0" rIns="0" bIns="0" rtlCol="0" anchor="ctr"/>
          <a:lstStyle/>
          <a:p>
            <a:pPr algn="ctr" indent="0" marL="0">
              <a:buNone/>
            </a:pPr>
            <a:r>
              <a:rPr lang="en-US" sz="1200" b="1" dirty="0">
                <a:solidFill>
                  <a:srgbClr val="F2F8FD"/>
                </a:solidFill>
                <a:latin typeface="Arial" pitchFamily="34" charset="0"/>
                <a:ea typeface="Arial" pitchFamily="34" charset="-122"/>
                <a:cs typeface="Arial" pitchFamily="34" charset="-120"/>
              </a:rPr>
              <a:t>HOSPITAL</a:t>
            </a:r>
            <a:endParaRPr lang="en-US" sz="1200" dirty="0"/>
          </a:p>
        </p:txBody>
      </p:sp>
      <p:sp>
        <p:nvSpPr>
          <p:cNvPr id="37" name="Text 30"/>
          <p:cNvSpPr/>
          <p:nvPr/>
        </p:nvSpPr>
        <p:spPr>
          <a:xfrm>
            <a:off x="7223760" y="2852928"/>
            <a:ext cx="1645920" cy="685800"/>
          </a:xfrm>
          <a:prstGeom prst="rect">
            <a:avLst/>
          </a:prstGeom>
          <a:noFill/>
          <a:ln/>
        </p:spPr>
        <p:txBody>
          <a:bodyPr wrap="square" lIns="0" tIns="0" rIns="0" bIns="0" rtlCol="0" anchor="ctr"/>
          <a:lstStyle/>
          <a:p>
            <a:pPr algn="ctr" indent="0" marL="0">
              <a:buNone/>
            </a:pPr>
            <a:r>
              <a:rPr lang="en-US" sz="950" dirty="0">
                <a:solidFill>
                  <a:srgbClr val="7E97AD"/>
                </a:solidFill>
                <a:latin typeface="Arial" pitchFamily="34" charset="0"/>
                <a:ea typeface="Arial" pitchFamily="34" charset="-122"/>
                <a:cs typeface="Arial" pitchFamily="34" charset="-120"/>
              </a:rPr>
              <a:t>Blood type + ETA sent, trauma bay ready</a:t>
            </a:r>
            <a:endParaRPr lang="en-US" sz="950" dirty="0"/>
          </a:p>
        </p:txBody>
      </p:sp>
      <p:sp>
        <p:nvSpPr>
          <p:cNvPr id="38" name="Shape 31"/>
          <p:cNvSpPr/>
          <p:nvPr/>
        </p:nvSpPr>
        <p:spPr>
          <a:xfrm>
            <a:off x="502920" y="3840480"/>
            <a:ext cx="8138160" cy="777240"/>
          </a:xfrm>
          <a:prstGeom prst="roundRect">
            <a:avLst>
              <a:gd name="adj" fmla="val 9412"/>
            </a:avLst>
          </a:prstGeom>
          <a:solidFill>
            <a:srgbClr val="0D1F16"/>
          </a:solidFill>
          <a:ln w="12700">
            <a:solidFill>
              <a:srgbClr val="00E676"/>
            </a:solidFill>
            <a:prstDash val="solid"/>
          </a:ln>
        </p:spPr>
      </p:sp>
      <p:sp>
        <p:nvSpPr>
          <p:cNvPr id="39" name="Text 32"/>
          <p:cNvSpPr/>
          <p:nvPr/>
        </p:nvSpPr>
        <p:spPr>
          <a:xfrm>
            <a:off x="777240" y="3840480"/>
            <a:ext cx="7589520" cy="777240"/>
          </a:xfrm>
          <a:prstGeom prst="rect">
            <a:avLst/>
          </a:prstGeom>
          <a:noFill/>
          <a:ln/>
        </p:spPr>
        <p:txBody>
          <a:bodyPr wrap="square" lIns="0" tIns="0" rIns="0" bIns="0" rtlCol="0" anchor="ctr"/>
          <a:lstStyle/>
          <a:p>
            <a:pPr indent="0" marL="0">
              <a:buNone/>
            </a:pPr>
            <a:r>
              <a:rPr lang="en-US" sz="1100" dirty="0">
                <a:solidFill>
                  <a:srgbClr val="7E97AD"/>
                </a:solidFill>
                <a:latin typeface="Courier New" pitchFamily="34" charset="0"/>
                <a:ea typeface="Courier New" pitchFamily="34" charset="-122"/>
                <a:cs typeface="Courier New" pitchFamily="34" charset="-120"/>
              </a:rPr>
              <a:t>TOTAL PIPELINE TIME:  </a:t>
            </a:r>
            <a:pPr indent="0" marL="0">
              <a:buNone/>
            </a:pPr>
            <a:r>
              <a:rPr lang="en-US" sz="1200" b="1" dirty="0">
                <a:solidFill>
                  <a:srgbClr val="00E676"/>
                </a:solidFill>
                <a:latin typeface="Arial" pitchFamily="34" charset="0"/>
                <a:ea typeface="Arial" pitchFamily="34" charset="-122"/>
                <a:cs typeface="Arial" pitchFamily="34" charset="-120"/>
              </a:rPr>
              <a:t>detection &lt; 2 s   →   cascade alert &lt; 0.5 s   →   corridor cleared &lt; 2 min   →   hospital reached in 11 min</a:t>
            </a:r>
            <a:endParaRPr lang="en-US" sz="1100" dirty="0"/>
          </a:p>
        </p:txBody>
      </p:sp>
      <p:sp>
        <p:nvSpPr>
          <p:cNvPr id="40" name="Text 33"/>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04 · ARCHITECTURE</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Five-Layer Full-Stack System</a:t>
            </a:r>
            <a:endParaRPr lang="en-US" sz="3000" dirty="0"/>
          </a:p>
        </p:txBody>
      </p:sp>
      <p:sp>
        <p:nvSpPr>
          <p:cNvPr id="4" name="Shape 2"/>
          <p:cNvSpPr/>
          <p:nvPr/>
        </p:nvSpPr>
        <p:spPr>
          <a:xfrm>
            <a:off x="502920" y="1298448"/>
            <a:ext cx="8138160" cy="603504"/>
          </a:xfrm>
          <a:prstGeom prst="roundRect">
            <a:avLst>
              <a:gd name="adj" fmla="val 9091"/>
            </a:avLst>
          </a:prstGeom>
          <a:solidFill>
            <a:srgbClr val="16253F"/>
          </a:solidFill>
          <a:ln w="12700">
            <a:solidFill>
              <a:srgbClr val="22405F"/>
            </a:solidFill>
            <a:prstDash val="solid"/>
          </a:ln>
        </p:spPr>
      </p:sp>
      <p:pic>
        <p:nvPicPr>
          <p:cNvPr id="5" name="Image 0" descr="preencoded.png">    </p:cNvPr>
          <p:cNvPicPr>
            <a:picLocks noChangeAspect="1"/>
          </p:cNvPicPr>
          <p:nvPr/>
        </p:nvPicPr>
        <p:blipFill>
          <a:blip r:embed="rId1"/>
          <a:stretch>
            <a:fillRect/>
          </a:stretch>
        </p:blipFill>
        <p:spPr>
          <a:xfrm>
            <a:off x="685800" y="1453896"/>
            <a:ext cx="292608" cy="292608"/>
          </a:xfrm>
          <a:prstGeom prst="rect">
            <a:avLst/>
          </a:prstGeom>
        </p:spPr>
      </p:pic>
      <p:sp>
        <p:nvSpPr>
          <p:cNvPr id="6" name="Text 3"/>
          <p:cNvSpPr/>
          <p:nvPr/>
        </p:nvSpPr>
        <p:spPr>
          <a:xfrm>
            <a:off x="1097280" y="1298448"/>
            <a:ext cx="1600200" cy="603504"/>
          </a:xfrm>
          <a:prstGeom prst="rect">
            <a:avLst/>
          </a:prstGeom>
          <a:noFill/>
          <a:ln/>
        </p:spPr>
        <p:txBody>
          <a:bodyPr wrap="square" lIns="0" tIns="0" rIns="0" bIns="0" rtlCol="0" anchor="ctr"/>
          <a:lstStyle/>
          <a:p>
            <a:pPr indent="0" marL="0">
              <a:buNone/>
            </a:pPr>
            <a:r>
              <a:rPr lang="en-US" sz="1250" b="1" dirty="0">
                <a:solidFill>
                  <a:srgbClr val="00C8FF"/>
                </a:solidFill>
                <a:latin typeface="Arial" pitchFamily="34" charset="0"/>
                <a:ea typeface="Arial" pitchFamily="34" charset="-122"/>
                <a:cs typeface="Arial" pitchFamily="34" charset="-120"/>
              </a:rPr>
              <a:t>PRESENTATION</a:t>
            </a:r>
            <a:endParaRPr lang="en-US" sz="1250" dirty="0"/>
          </a:p>
        </p:txBody>
      </p:sp>
      <p:sp>
        <p:nvSpPr>
          <p:cNvPr id="7" name="Text 4"/>
          <p:cNvSpPr/>
          <p:nvPr/>
        </p:nvSpPr>
        <p:spPr>
          <a:xfrm>
            <a:off x="2743200" y="1298448"/>
            <a:ext cx="3749040" cy="603504"/>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Website · Live Leaflet dashboard · Android PWA driver app · 3D simulations</a:t>
            </a:r>
            <a:endParaRPr lang="en-US" sz="1000" dirty="0"/>
          </a:p>
        </p:txBody>
      </p:sp>
      <p:sp>
        <p:nvSpPr>
          <p:cNvPr id="8" name="Text 5"/>
          <p:cNvSpPr/>
          <p:nvPr/>
        </p:nvSpPr>
        <p:spPr>
          <a:xfrm>
            <a:off x="6537960" y="1298448"/>
            <a:ext cx="2011680" cy="603504"/>
          </a:xfrm>
          <a:prstGeom prst="rect">
            <a:avLst/>
          </a:prstGeom>
          <a:noFill/>
          <a:ln/>
        </p:spPr>
        <p:txBody>
          <a:bodyPr wrap="square" lIns="0" tIns="0" rIns="0" bIns="0" rtlCol="0" anchor="ctr"/>
          <a:lstStyle/>
          <a:p>
            <a:pPr indent="0" marL="0">
              <a:buNone/>
            </a:pPr>
            <a:r>
              <a:rPr lang="en-US" sz="850" dirty="0">
                <a:solidFill>
                  <a:srgbClr val="7E97AD"/>
                </a:solidFill>
                <a:latin typeface="Courier New" pitchFamily="34" charset="0"/>
                <a:ea typeface="Courier New" pitchFamily="34" charset="-122"/>
                <a:cs typeface="Courier New" pitchFamily="34" charset="-120"/>
              </a:rPr>
              <a:t>HTML / CSS / JS · Leaflet.js · Three.js</a:t>
            </a:r>
            <a:endParaRPr lang="en-US" sz="850" dirty="0"/>
          </a:p>
        </p:txBody>
      </p:sp>
      <p:sp>
        <p:nvSpPr>
          <p:cNvPr id="9" name="Shape 6"/>
          <p:cNvSpPr/>
          <p:nvPr/>
        </p:nvSpPr>
        <p:spPr>
          <a:xfrm>
            <a:off x="502920" y="1993392"/>
            <a:ext cx="8138160" cy="603504"/>
          </a:xfrm>
          <a:prstGeom prst="roundRect">
            <a:avLst>
              <a:gd name="adj" fmla="val 9091"/>
            </a:avLst>
          </a:prstGeom>
          <a:solidFill>
            <a:srgbClr val="111D33"/>
          </a:solidFill>
          <a:ln w="12700">
            <a:solidFill>
              <a:srgbClr val="22405F"/>
            </a:solidFill>
            <a:prstDash val="solid"/>
          </a:ln>
        </p:spPr>
      </p:sp>
      <p:pic>
        <p:nvPicPr>
          <p:cNvPr id="10" name="Image 1" descr="preencoded.png">    </p:cNvPr>
          <p:cNvPicPr>
            <a:picLocks noChangeAspect="1"/>
          </p:cNvPicPr>
          <p:nvPr/>
        </p:nvPicPr>
        <p:blipFill>
          <a:blip r:embed="rId2"/>
          <a:stretch>
            <a:fillRect/>
          </a:stretch>
        </p:blipFill>
        <p:spPr>
          <a:xfrm>
            <a:off x="685800" y="2148840"/>
            <a:ext cx="292608" cy="292608"/>
          </a:xfrm>
          <a:prstGeom prst="rect">
            <a:avLst/>
          </a:prstGeom>
        </p:spPr>
      </p:pic>
      <p:sp>
        <p:nvSpPr>
          <p:cNvPr id="11" name="Text 7"/>
          <p:cNvSpPr/>
          <p:nvPr/>
        </p:nvSpPr>
        <p:spPr>
          <a:xfrm>
            <a:off x="1097280" y="1993392"/>
            <a:ext cx="1600200" cy="603504"/>
          </a:xfrm>
          <a:prstGeom prst="rect">
            <a:avLst/>
          </a:prstGeom>
          <a:noFill/>
          <a:ln/>
        </p:spPr>
        <p:txBody>
          <a:bodyPr wrap="square" lIns="0" tIns="0" rIns="0" bIns="0" rtlCol="0" anchor="ctr"/>
          <a:lstStyle/>
          <a:p>
            <a:pPr indent="0" marL="0">
              <a:buNone/>
            </a:pPr>
            <a:r>
              <a:rPr lang="en-US" sz="1250" b="1" dirty="0">
                <a:solidFill>
                  <a:srgbClr val="00C8FF"/>
                </a:solidFill>
                <a:latin typeface="Arial" pitchFamily="34" charset="0"/>
                <a:ea typeface="Arial" pitchFamily="34" charset="-122"/>
                <a:cs typeface="Arial" pitchFamily="34" charset="-120"/>
              </a:rPr>
              <a:t>BACKEND</a:t>
            </a:r>
            <a:endParaRPr lang="en-US" sz="1250" dirty="0"/>
          </a:p>
        </p:txBody>
      </p:sp>
      <p:sp>
        <p:nvSpPr>
          <p:cNvPr id="12" name="Text 8"/>
          <p:cNvSpPr/>
          <p:nvPr/>
        </p:nvSpPr>
        <p:spPr>
          <a:xfrm>
            <a:off x="2743200" y="1993392"/>
            <a:ext cx="3749040" cy="603504"/>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100-vehicle engine · 5 alert types · auto challan · ECU lock · Green Corridor</a:t>
            </a:r>
            <a:endParaRPr lang="en-US" sz="1000" dirty="0"/>
          </a:p>
        </p:txBody>
      </p:sp>
      <p:sp>
        <p:nvSpPr>
          <p:cNvPr id="13" name="Text 9"/>
          <p:cNvSpPr/>
          <p:nvPr/>
        </p:nvSpPr>
        <p:spPr>
          <a:xfrm>
            <a:off x="6537960" y="1993392"/>
            <a:ext cx="2011680" cy="603504"/>
          </a:xfrm>
          <a:prstGeom prst="rect">
            <a:avLst/>
          </a:prstGeom>
          <a:noFill/>
          <a:ln/>
        </p:spPr>
        <p:txBody>
          <a:bodyPr wrap="square" lIns="0" tIns="0" rIns="0" bIns="0" rtlCol="0" anchor="ctr"/>
          <a:lstStyle/>
          <a:p>
            <a:pPr indent="0" marL="0">
              <a:buNone/>
            </a:pPr>
            <a:r>
              <a:rPr lang="en-US" sz="850" dirty="0">
                <a:solidFill>
                  <a:srgbClr val="7E97AD"/>
                </a:solidFill>
                <a:latin typeface="Courier New" pitchFamily="34" charset="0"/>
                <a:ea typeface="Courier New" pitchFamily="34" charset="-122"/>
                <a:cs typeface="Courier New" pitchFamily="34" charset="-120"/>
              </a:rPr>
              <a:t>Node.js · Express · Socket.io</a:t>
            </a:r>
            <a:endParaRPr lang="en-US" sz="850" dirty="0"/>
          </a:p>
        </p:txBody>
      </p:sp>
      <p:sp>
        <p:nvSpPr>
          <p:cNvPr id="14" name="Shape 10"/>
          <p:cNvSpPr/>
          <p:nvPr/>
        </p:nvSpPr>
        <p:spPr>
          <a:xfrm>
            <a:off x="502920" y="2688336"/>
            <a:ext cx="8138160" cy="603504"/>
          </a:xfrm>
          <a:prstGeom prst="roundRect">
            <a:avLst>
              <a:gd name="adj" fmla="val 9091"/>
            </a:avLst>
          </a:prstGeom>
          <a:solidFill>
            <a:srgbClr val="16253F"/>
          </a:solidFill>
          <a:ln w="12700">
            <a:solidFill>
              <a:srgbClr val="22405F"/>
            </a:solidFill>
            <a:prstDash val="solid"/>
          </a:ln>
        </p:spPr>
      </p:sp>
      <p:pic>
        <p:nvPicPr>
          <p:cNvPr id="15" name="Image 2" descr="preencoded.png">    </p:cNvPr>
          <p:cNvPicPr>
            <a:picLocks noChangeAspect="1"/>
          </p:cNvPicPr>
          <p:nvPr/>
        </p:nvPicPr>
        <p:blipFill>
          <a:blip r:embed="rId3"/>
          <a:stretch>
            <a:fillRect/>
          </a:stretch>
        </p:blipFill>
        <p:spPr>
          <a:xfrm>
            <a:off x="685800" y="2843784"/>
            <a:ext cx="292608" cy="292608"/>
          </a:xfrm>
          <a:prstGeom prst="rect">
            <a:avLst/>
          </a:prstGeom>
        </p:spPr>
      </p:pic>
      <p:sp>
        <p:nvSpPr>
          <p:cNvPr id="16" name="Text 11"/>
          <p:cNvSpPr/>
          <p:nvPr/>
        </p:nvSpPr>
        <p:spPr>
          <a:xfrm>
            <a:off x="1097280" y="2688336"/>
            <a:ext cx="1600200" cy="603504"/>
          </a:xfrm>
          <a:prstGeom prst="rect">
            <a:avLst/>
          </a:prstGeom>
          <a:noFill/>
          <a:ln/>
        </p:spPr>
        <p:txBody>
          <a:bodyPr wrap="square" lIns="0" tIns="0" rIns="0" bIns="0" rtlCol="0" anchor="ctr"/>
          <a:lstStyle/>
          <a:p>
            <a:pPr indent="0" marL="0">
              <a:buNone/>
            </a:pPr>
            <a:r>
              <a:rPr lang="en-US" sz="1250" b="1" dirty="0">
                <a:solidFill>
                  <a:srgbClr val="00C8FF"/>
                </a:solidFill>
                <a:latin typeface="Arial" pitchFamily="34" charset="0"/>
                <a:ea typeface="Arial" pitchFamily="34" charset="-122"/>
                <a:cs typeface="Arial" pitchFamily="34" charset="-120"/>
              </a:rPr>
              <a:t>AI / ML</a:t>
            </a:r>
            <a:endParaRPr lang="en-US" sz="1250" dirty="0"/>
          </a:p>
        </p:txBody>
      </p:sp>
      <p:sp>
        <p:nvSpPr>
          <p:cNvPr id="17" name="Text 12"/>
          <p:cNvSpPr/>
          <p:nvPr/>
        </p:nvSpPr>
        <p:spPr>
          <a:xfrm>
            <a:off x="2743200" y="2688336"/>
            <a:ext cx="3749040" cy="603504"/>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Crash prediction 0–1 · 25 features · retrainable via API</a:t>
            </a:r>
            <a:endParaRPr lang="en-US" sz="1000" dirty="0"/>
          </a:p>
        </p:txBody>
      </p:sp>
      <p:sp>
        <p:nvSpPr>
          <p:cNvPr id="18" name="Text 13"/>
          <p:cNvSpPr/>
          <p:nvPr/>
        </p:nvSpPr>
        <p:spPr>
          <a:xfrm>
            <a:off x="6537960" y="2688336"/>
            <a:ext cx="2011680" cy="603504"/>
          </a:xfrm>
          <a:prstGeom prst="rect">
            <a:avLst/>
          </a:prstGeom>
          <a:noFill/>
          <a:ln/>
        </p:spPr>
        <p:txBody>
          <a:bodyPr wrap="square" lIns="0" tIns="0" rIns="0" bIns="0" rtlCol="0" anchor="ctr"/>
          <a:lstStyle/>
          <a:p>
            <a:pPr indent="0" marL="0">
              <a:buNone/>
            </a:pPr>
            <a:r>
              <a:rPr lang="en-US" sz="850" dirty="0">
                <a:solidFill>
                  <a:srgbClr val="7E97AD"/>
                </a:solidFill>
                <a:latin typeface="Courier New" pitchFamily="34" charset="0"/>
                <a:ea typeface="Courier New" pitchFamily="34" charset="-122"/>
                <a:cs typeface="Courier New" pitchFamily="34" charset="-120"/>
              </a:rPr>
              <a:t>Python · XGBoost · FastAPI (port 5000)</a:t>
            </a:r>
            <a:endParaRPr lang="en-US" sz="850" dirty="0"/>
          </a:p>
        </p:txBody>
      </p:sp>
      <p:sp>
        <p:nvSpPr>
          <p:cNvPr id="19" name="Shape 14"/>
          <p:cNvSpPr/>
          <p:nvPr/>
        </p:nvSpPr>
        <p:spPr>
          <a:xfrm>
            <a:off x="502920" y="3383280"/>
            <a:ext cx="8138160" cy="603504"/>
          </a:xfrm>
          <a:prstGeom prst="roundRect">
            <a:avLst>
              <a:gd name="adj" fmla="val 9091"/>
            </a:avLst>
          </a:prstGeom>
          <a:solidFill>
            <a:srgbClr val="111D33"/>
          </a:solidFill>
          <a:ln w="12700">
            <a:solidFill>
              <a:srgbClr val="22405F"/>
            </a:solidFill>
            <a:prstDash val="solid"/>
          </a:ln>
        </p:spPr>
      </p:sp>
      <p:pic>
        <p:nvPicPr>
          <p:cNvPr id="20" name="Image 3" descr="preencoded.png">    </p:cNvPr>
          <p:cNvPicPr>
            <a:picLocks noChangeAspect="1"/>
          </p:cNvPicPr>
          <p:nvPr/>
        </p:nvPicPr>
        <p:blipFill>
          <a:blip r:embed="rId4"/>
          <a:stretch>
            <a:fillRect/>
          </a:stretch>
        </p:blipFill>
        <p:spPr>
          <a:xfrm>
            <a:off x="685800" y="3538728"/>
            <a:ext cx="292608" cy="292608"/>
          </a:xfrm>
          <a:prstGeom prst="rect">
            <a:avLst/>
          </a:prstGeom>
        </p:spPr>
      </p:pic>
      <p:sp>
        <p:nvSpPr>
          <p:cNvPr id="21" name="Text 15"/>
          <p:cNvSpPr/>
          <p:nvPr/>
        </p:nvSpPr>
        <p:spPr>
          <a:xfrm>
            <a:off x="1097280" y="3383280"/>
            <a:ext cx="1600200" cy="603504"/>
          </a:xfrm>
          <a:prstGeom prst="rect">
            <a:avLst/>
          </a:prstGeom>
          <a:noFill/>
          <a:ln/>
        </p:spPr>
        <p:txBody>
          <a:bodyPr wrap="square" lIns="0" tIns="0" rIns="0" bIns="0" rtlCol="0" anchor="ctr"/>
          <a:lstStyle/>
          <a:p>
            <a:pPr indent="0" marL="0">
              <a:buNone/>
            </a:pPr>
            <a:r>
              <a:rPr lang="en-US" sz="1250" b="1" dirty="0">
                <a:solidFill>
                  <a:srgbClr val="00C8FF"/>
                </a:solidFill>
                <a:latin typeface="Arial" pitchFamily="34" charset="0"/>
                <a:ea typeface="Arial" pitchFamily="34" charset="-122"/>
                <a:cs typeface="Arial" pitchFamily="34" charset="-120"/>
              </a:rPr>
              <a:t>DATA</a:t>
            </a:r>
            <a:endParaRPr lang="en-US" sz="1250" dirty="0"/>
          </a:p>
        </p:txBody>
      </p:sp>
      <p:sp>
        <p:nvSpPr>
          <p:cNvPr id="22" name="Text 16"/>
          <p:cNvSpPr/>
          <p:nvPr/>
        </p:nvSpPr>
        <p:spPr>
          <a:xfrm>
            <a:off x="2743200" y="3383280"/>
            <a:ext cx="3749040" cy="603504"/>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8 relational tables · vehicles, drivers, incidents, challans, telemetry</a:t>
            </a:r>
            <a:endParaRPr lang="en-US" sz="1000" dirty="0"/>
          </a:p>
        </p:txBody>
      </p:sp>
      <p:sp>
        <p:nvSpPr>
          <p:cNvPr id="23" name="Text 17"/>
          <p:cNvSpPr/>
          <p:nvPr/>
        </p:nvSpPr>
        <p:spPr>
          <a:xfrm>
            <a:off x="6537960" y="3383280"/>
            <a:ext cx="2011680" cy="603504"/>
          </a:xfrm>
          <a:prstGeom prst="rect">
            <a:avLst/>
          </a:prstGeom>
          <a:noFill/>
          <a:ln/>
        </p:spPr>
        <p:txBody>
          <a:bodyPr wrap="square" lIns="0" tIns="0" rIns="0" bIns="0" rtlCol="0" anchor="ctr"/>
          <a:lstStyle/>
          <a:p>
            <a:pPr indent="0" marL="0">
              <a:buNone/>
            </a:pPr>
            <a:r>
              <a:rPr lang="en-US" sz="850" dirty="0">
                <a:solidFill>
                  <a:srgbClr val="7E97AD"/>
                </a:solidFill>
                <a:latin typeface="Courier New" pitchFamily="34" charset="0"/>
                <a:ea typeface="Courier New" pitchFamily="34" charset="-122"/>
                <a:cs typeface="Courier New" pitchFamily="34" charset="-120"/>
              </a:rPr>
              <a:t>MySQL · parameterized queries</a:t>
            </a:r>
            <a:endParaRPr lang="en-US" sz="850" dirty="0"/>
          </a:p>
        </p:txBody>
      </p:sp>
      <p:sp>
        <p:nvSpPr>
          <p:cNvPr id="24" name="Shape 18"/>
          <p:cNvSpPr/>
          <p:nvPr/>
        </p:nvSpPr>
        <p:spPr>
          <a:xfrm>
            <a:off x="502920" y="4078224"/>
            <a:ext cx="8138160" cy="603504"/>
          </a:xfrm>
          <a:prstGeom prst="roundRect">
            <a:avLst>
              <a:gd name="adj" fmla="val 9091"/>
            </a:avLst>
          </a:prstGeom>
          <a:solidFill>
            <a:srgbClr val="16253F"/>
          </a:solidFill>
          <a:ln w="12700">
            <a:solidFill>
              <a:srgbClr val="22405F"/>
            </a:solidFill>
            <a:prstDash val="solid"/>
          </a:ln>
        </p:spPr>
      </p:sp>
      <p:pic>
        <p:nvPicPr>
          <p:cNvPr id="25" name="Image 4" descr="preencoded.png">    </p:cNvPr>
          <p:cNvPicPr>
            <a:picLocks noChangeAspect="1"/>
          </p:cNvPicPr>
          <p:nvPr/>
        </p:nvPicPr>
        <p:blipFill>
          <a:blip r:embed="rId5"/>
          <a:stretch>
            <a:fillRect/>
          </a:stretch>
        </p:blipFill>
        <p:spPr>
          <a:xfrm>
            <a:off x="685800" y="4233672"/>
            <a:ext cx="292608" cy="292608"/>
          </a:xfrm>
          <a:prstGeom prst="rect">
            <a:avLst/>
          </a:prstGeom>
        </p:spPr>
      </p:pic>
      <p:sp>
        <p:nvSpPr>
          <p:cNvPr id="26" name="Text 19"/>
          <p:cNvSpPr/>
          <p:nvPr/>
        </p:nvSpPr>
        <p:spPr>
          <a:xfrm>
            <a:off x="1097280" y="4078224"/>
            <a:ext cx="1600200" cy="603504"/>
          </a:xfrm>
          <a:prstGeom prst="rect">
            <a:avLst/>
          </a:prstGeom>
          <a:noFill/>
          <a:ln/>
        </p:spPr>
        <p:txBody>
          <a:bodyPr wrap="square" lIns="0" tIns="0" rIns="0" bIns="0" rtlCol="0" anchor="ctr"/>
          <a:lstStyle/>
          <a:p>
            <a:pPr indent="0" marL="0">
              <a:buNone/>
            </a:pPr>
            <a:r>
              <a:rPr lang="en-US" sz="1250" b="1" dirty="0">
                <a:solidFill>
                  <a:srgbClr val="00C8FF"/>
                </a:solidFill>
                <a:latin typeface="Arial" pitchFamily="34" charset="0"/>
                <a:ea typeface="Arial" pitchFamily="34" charset="-122"/>
                <a:cs typeface="Arial" pitchFamily="34" charset="-120"/>
              </a:rPr>
              <a:t>HARDWARE</a:t>
            </a:r>
            <a:endParaRPr lang="en-US" sz="1250" dirty="0"/>
          </a:p>
        </p:txBody>
      </p:sp>
      <p:sp>
        <p:nvSpPr>
          <p:cNvPr id="27" name="Text 20"/>
          <p:cNvSpPr/>
          <p:nvPr/>
        </p:nvSpPr>
        <p:spPr>
          <a:xfrm>
            <a:off x="2743200" y="4078224"/>
            <a:ext cx="3749040" cy="603504"/>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Reads real speed/RPM · G-force crash detection · receives ECU commands</a:t>
            </a:r>
            <a:endParaRPr lang="en-US" sz="1000" dirty="0"/>
          </a:p>
        </p:txBody>
      </p:sp>
      <p:sp>
        <p:nvSpPr>
          <p:cNvPr id="28" name="Text 21"/>
          <p:cNvSpPr/>
          <p:nvPr/>
        </p:nvSpPr>
        <p:spPr>
          <a:xfrm>
            <a:off x="6537960" y="4078224"/>
            <a:ext cx="2011680" cy="603504"/>
          </a:xfrm>
          <a:prstGeom prst="rect">
            <a:avLst/>
          </a:prstGeom>
          <a:noFill/>
          <a:ln/>
        </p:spPr>
        <p:txBody>
          <a:bodyPr wrap="square" lIns="0" tIns="0" rIns="0" bIns="0" rtlCol="0" anchor="ctr"/>
          <a:lstStyle/>
          <a:p>
            <a:pPr indent="0" marL="0">
              <a:buNone/>
            </a:pPr>
            <a:r>
              <a:rPr lang="en-US" sz="850" dirty="0">
                <a:solidFill>
                  <a:srgbClr val="7E97AD"/>
                </a:solidFill>
                <a:latin typeface="Courier New" pitchFamily="34" charset="0"/>
                <a:ea typeface="Courier New" pitchFamily="34" charset="-122"/>
                <a:cs typeface="Courier New" pitchFamily="34" charset="-120"/>
              </a:rPr>
              <a:t>ESP32 · ELM327 OBD-II · NEO-6M GPS</a:t>
            </a:r>
            <a:endParaRPr lang="en-US" sz="850" dirty="0"/>
          </a:p>
        </p:txBody>
      </p:sp>
      <p:sp>
        <p:nvSpPr>
          <p:cNvPr id="29" name="Text 22"/>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05 · FLAGSHIP FEATURE</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Green Corridor — Clearing Roads Before the Ambulance Moves</a:t>
            </a:r>
            <a:endParaRPr lang="en-US" sz="3000" dirty="0"/>
          </a:p>
        </p:txBody>
      </p:sp>
      <p:sp>
        <p:nvSpPr>
          <p:cNvPr id="4" name="Shape 2"/>
          <p:cNvSpPr/>
          <p:nvPr/>
        </p:nvSpPr>
        <p:spPr>
          <a:xfrm>
            <a:off x="502920" y="1325880"/>
            <a:ext cx="1828800" cy="384048"/>
          </a:xfrm>
          <a:prstGeom prst="roundRect">
            <a:avLst>
              <a:gd name="adj" fmla="val 47619"/>
            </a:avLst>
          </a:prstGeom>
          <a:solidFill>
            <a:srgbClr val="0D1F16"/>
          </a:solidFill>
          <a:ln w="15240">
            <a:solidFill>
              <a:srgbClr val="00E676"/>
            </a:solidFill>
            <a:prstDash val="solid"/>
          </a:ln>
        </p:spPr>
      </p:sp>
      <p:sp>
        <p:nvSpPr>
          <p:cNvPr id="5" name="Text 3"/>
          <p:cNvSpPr/>
          <p:nvPr/>
        </p:nvSpPr>
        <p:spPr>
          <a:xfrm>
            <a:off x="502920" y="1325880"/>
            <a:ext cx="1828800" cy="384048"/>
          </a:xfrm>
          <a:prstGeom prst="rect">
            <a:avLst/>
          </a:prstGeom>
          <a:noFill/>
          <a:ln/>
        </p:spPr>
        <p:txBody>
          <a:bodyPr wrap="square" lIns="0" tIns="0" rIns="0" bIns="0" rtlCol="0" anchor="ctr"/>
          <a:lstStyle/>
          <a:p>
            <a:pPr algn="ctr" indent="0" marL="0">
              <a:buNone/>
            </a:pPr>
            <a:r>
              <a:rPr lang="en-US" sz="850" b="1" spc="100" kern="0" dirty="0">
                <a:solidFill>
                  <a:srgbClr val="00E676"/>
                </a:solidFill>
                <a:latin typeface="Courier New" pitchFamily="34" charset="0"/>
                <a:ea typeface="Courier New" pitchFamily="34" charset="-122"/>
                <a:cs typeface="Courier New" pitchFamily="34" charset="-120"/>
              </a:rPr>
              <a:t>WORLD-FIRST APPROACH</a:t>
            </a:r>
            <a:endParaRPr lang="en-US" sz="850" dirty="0"/>
          </a:p>
        </p:txBody>
      </p:sp>
      <p:pic>
        <p:nvPicPr>
          <p:cNvPr id="6" name="Image 0" descr="preencoded.png">    </p:cNvPr>
          <p:cNvPicPr>
            <a:picLocks noChangeAspect="1"/>
          </p:cNvPicPr>
          <p:nvPr/>
        </p:nvPicPr>
        <p:blipFill>
          <a:blip r:embed="rId1"/>
          <a:stretch>
            <a:fillRect/>
          </a:stretch>
        </p:blipFill>
        <p:spPr>
          <a:xfrm>
            <a:off x="548640" y="1901952"/>
            <a:ext cx="310896" cy="310896"/>
          </a:xfrm>
          <a:prstGeom prst="rect">
            <a:avLst/>
          </a:prstGeom>
        </p:spPr>
      </p:pic>
      <p:sp>
        <p:nvSpPr>
          <p:cNvPr id="7" name="Text 4"/>
          <p:cNvSpPr/>
          <p:nvPr/>
        </p:nvSpPr>
        <p:spPr>
          <a:xfrm>
            <a:off x="1005840" y="1874520"/>
            <a:ext cx="3017520" cy="365760"/>
          </a:xfrm>
          <a:prstGeom prst="rect">
            <a:avLst/>
          </a:prstGeom>
          <a:noFill/>
          <a:ln/>
        </p:spPr>
        <p:txBody>
          <a:bodyPr wrap="square" lIns="0" tIns="0" rIns="0" bIns="0" rtlCol="0" anchor="ctr"/>
          <a:lstStyle/>
          <a:p>
            <a:pPr indent="0" marL="0">
              <a:buNone/>
            </a:pPr>
            <a:r>
              <a:rPr lang="en-US" sz="1250" b="1" dirty="0">
                <a:solidFill>
                  <a:srgbClr val="F2F8FD"/>
                </a:solidFill>
                <a:latin typeface="Arial" pitchFamily="34" charset="0"/>
                <a:ea typeface="Arial" pitchFamily="34" charset="-122"/>
                <a:cs typeface="Arial" pitchFamily="34" charset="-120"/>
              </a:rPr>
              <a:t>Haversine route mapping</a:t>
            </a:r>
            <a:endParaRPr lang="en-US" sz="1250" dirty="0"/>
          </a:p>
        </p:txBody>
      </p:sp>
      <p:sp>
        <p:nvSpPr>
          <p:cNvPr id="8" name="Text 5"/>
          <p:cNvSpPr/>
          <p:nvPr/>
        </p:nvSpPr>
        <p:spPr>
          <a:xfrm>
            <a:off x="1005840" y="2148840"/>
            <a:ext cx="4206240" cy="384048"/>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Every vehicle within the hospital-to-crash corridor is identified by GPS distance-to-path math.</a:t>
            </a:r>
            <a:endParaRPr lang="en-US" sz="950" dirty="0"/>
          </a:p>
        </p:txBody>
      </p:sp>
      <p:pic>
        <p:nvPicPr>
          <p:cNvPr id="9" name="Image 1" descr="preencoded.png">    </p:cNvPr>
          <p:cNvPicPr>
            <a:picLocks noChangeAspect="1"/>
          </p:cNvPicPr>
          <p:nvPr/>
        </p:nvPicPr>
        <p:blipFill>
          <a:blip r:embed="rId2"/>
          <a:stretch>
            <a:fillRect/>
          </a:stretch>
        </p:blipFill>
        <p:spPr>
          <a:xfrm>
            <a:off x="548640" y="2560320"/>
            <a:ext cx="310896" cy="310896"/>
          </a:xfrm>
          <a:prstGeom prst="rect">
            <a:avLst/>
          </a:prstGeom>
        </p:spPr>
      </p:pic>
      <p:sp>
        <p:nvSpPr>
          <p:cNvPr id="10" name="Text 6"/>
          <p:cNvSpPr/>
          <p:nvPr/>
        </p:nvSpPr>
        <p:spPr>
          <a:xfrm>
            <a:off x="1005840" y="2532888"/>
            <a:ext cx="3017520" cy="365760"/>
          </a:xfrm>
          <a:prstGeom prst="rect">
            <a:avLst/>
          </a:prstGeom>
          <a:noFill/>
          <a:ln/>
        </p:spPr>
        <p:txBody>
          <a:bodyPr wrap="square" lIns="0" tIns="0" rIns="0" bIns="0" rtlCol="0" anchor="ctr"/>
          <a:lstStyle/>
          <a:p>
            <a:pPr indent="0" marL="0">
              <a:buNone/>
            </a:pPr>
            <a:r>
              <a:rPr lang="en-US" sz="1250" b="1" dirty="0">
                <a:solidFill>
                  <a:srgbClr val="F2F8FD"/>
                </a:solidFill>
                <a:latin typeface="Arial" pitchFamily="34" charset="0"/>
                <a:ea typeface="Arial" pitchFamily="34" charset="-122"/>
                <a:cs typeface="Arial" pitchFamily="34" charset="-120"/>
              </a:rPr>
              <a:t>Type-specific instructions</a:t>
            </a:r>
            <a:endParaRPr lang="en-US" sz="1250" dirty="0"/>
          </a:p>
        </p:txBody>
      </p:sp>
      <p:sp>
        <p:nvSpPr>
          <p:cNvPr id="11" name="Text 7"/>
          <p:cNvSpPr/>
          <p:nvPr/>
        </p:nvSpPr>
        <p:spPr>
          <a:xfrm>
            <a:off x="1005840" y="2807208"/>
            <a:ext cx="4206240" cy="384048"/>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Truck → find turnout · Bus → stop, open doors · Bike → dismount · Car → pull hard left.</a:t>
            </a:r>
            <a:endParaRPr lang="en-US" sz="950" dirty="0"/>
          </a:p>
        </p:txBody>
      </p:sp>
      <p:pic>
        <p:nvPicPr>
          <p:cNvPr id="12" name="Image 2" descr="preencoded.png">    </p:cNvPr>
          <p:cNvPicPr>
            <a:picLocks noChangeAspect="1"/>
          </p:cNvPicPr>
          <p:nvPr/>
        </p:nvPicPr>
        <p:blipFill>
          <a:blip r:embed="rId3"/>
          <a:stretch>
            <a:fillRect/>
          </a:stretch>
        </p:blipFill>
        <p:spPr>
          <a:xfrm>
            <a:off x="548640" y="3218688"/>
            <a:ext cx="310896" cy="310896"/>
          </a:xfrm>
          <a:prstGeom prst="rect">
            <a:avLst/>
          </a:prstGeom>
        </p:spPr>
      </p:pic>
      <p:sp>
        <p:nvSpPr>
          <p:cNvPr id="13" name="Text 8"/>
          <p:cNvSpPr/>
          <p:nvPr/>
        </p:nvSpPr>
        <p:spPr>
          <a:xfrm>
            <a:off x="1005840" y="3191256"/>
            <a:ext cx="3017520" cy="365760"/>
          </a:xfrm>
          <a:prstGeom prst="rect">
            <a:avLst/>
          </a:prstGeom>
          <a:noFill/>
          <a:ln/>
        </p:spPr>
        <p:txBody>
          <a:bodyPr wrap="square" lIns="0" tIns="0" rIns="0" bIns="0" rtlCol="0" anchor="ctr"/>
          <a:lstStyle/>
          <a:p>
            <a:pPr indent="0" marL="0">
              <a:buNone/>
            </a:pPr>
            <a:r>
              <a:rPr lang="en-US" sz="1250" b="1" dirty="0">
                <a:solidFill>
                  <a:srgbClr val="F2F8FD"/>
                </a:solidFill>
                <a:latin typeface="Arial" pitchFamily="34" charset="0"/>
                <a:ea typeface="Arial" pitchFamily="34" charset="-122"/>
                <a:cs typeface="Arial" pitchFamily="34" charset="-120"/>
              </a:rPr>
              <a:t>Violator re-alerts</a:t>
            </a:r>
            <a:endParaRPr lang="en-US" sz="1250" dirty="0"/>
          </a:p>
        </p:txBody>
      </p:sp>
      <p:sp>
        <p:nvSpPr>
          <p:cNvPr id="14" name="Text 9"/>
          <p:cNvSpPr/>
          <p:nvPr/>
        </p:nvSpPr>
        <p:spPr>
          <a:xfrm>
            <a:off x="1005840" y="3465576"/>
            <a:ext cx="4206240" cy="384048"/>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Vehicles that haven't pulled aside get re-alerted every 20 seconds until the corridor is clear.</a:t>
            </a:r>
            <a:endParaRPr lang="en-US" sz="950" dirty="0"/>
          </a:p>
        </p:txBody>
      </p:sp>
      <p:pic>
        <p:nvPicPr>
          <p:cNvPr id="15" name="Image 3" descr="preencoded.png">    </p:cNvPr>
          <p:cNvPicPr>
            <a:picLocks noChangeAspect="1"/>
          </p:cNvPicPr>
          <p:nvPr/>
        </p:nvPicPr>
        <p:blipFill>
          <a:blip r:embed="rId4"/>
          <a:stretch>
            <a:fillRect/>
          </a:stretch>
        </p:blipFill>
        <p:spPr>
          <a:xfrm>
            <a:off x="548640" y="3877056"/>
            <a:ext cx="310896" cy="310896"/>
          </a:xfrm>
          <a:prstGeom prst="rect">
            <a:avLst/>
          </a:prstGeom>
        </p:spPr>
      </p:pic>
      <p:sp>
        <p:nvSpPr>
          <p:cNvPr id="16" name="Text 10"/>
          <p:cNvSpPr/>
          <p:nvPr/>
        </p:nvSpPr>
        <p:spPr>
          <a:xfrm>
            <a:off x="1005840" y="3849624"/>
            <a:ext cx="3017520" cy="365760"/>
          </a:xfrm>
          <a:prstGeom prst="rect">
            <a:avLst/>
          </a:prstGeom>
          <a:noFill/>
          <a:ln/>
        </p:spPr>
        <p:txBody>
          <a:bodyPr wrap="square" lIns="0" tIns="0" rIns="0" bIns="0" rtlCol="0" anchor="ctr"/>
          <a:lstStyle/>
          <a:p>
            <a:pPr indent="0" marL="0">
              <a:buNone/>
            </a:pPr>
            <a:r>
              <a:rPr lang="en-US" sz="1250" b="1" dirty="0">
                <a:solidFill>
                  <a:srgbClr val="F2F8FD"/>
                </a:solidFill>
                <a:latin typeface="Arial" pitchFamily="34" charset="0"/>
                <a:ea typeface="Arial" pitchFamily="34" charset="-122"/>
                <a:cs typeface="Arial" pitchFamily="34" charset="-120"/>
              </a:rPr>
              <a:t>Hospital pre-alert</a:t>
            </a:r>
            <a:endParaRPr lang="en-US" sz="1250" dirty="0"/>
          </a:p>
        </p:txBody>
      </p:sp>
      <p:sp>
        <p:nvSpPr>
          <p:cNvPr id="17" name="Text 11"/>
          <p:cNvSpPr/>
          <p:nvPr/>
        </p:nvSpPr>
        <p:spPr>
          <a:xfrm>
            <a:off x="1005840" y="4123944"/>
            <a:ext cx="4206240" cy="384048"/>
          </a:xfrm>
          <a:prstGeom prst="rect">
            <a:avLst/>
          </a:prstGeom>
          <a:noFill/>
          <a:ln/>
        </p:spPr>
        <p:txBody>
          <a:bodyPr wrap="square" lIns="0" tIns="0" rIns="0" bIns="0" rtlCol="0" anchor="ctr"/>
          <a:lstStyle/>
          <a:p>
            <a:pPr indent="0" marL="0">
              <a:buNone/>
            </a:pPr>
            <a:r>
              <a:rPr lang="en-US" sz="950" dirty="0">
                <a:solidFill>
                  <a:srgbClr val="7E97AD"/>
                </a:solidFill>
                <a:latin typeface="Arial" pitchFamily="34" charset="0"/>
                <a:ea typeface="Arial" pitchFamily="34" charset="-122"/>
                <a:cs typeface="Arial" pitchFamily="34" charset="-120"/>
              </a:rPr>
              <a:t>Blood group, ETA and patient details reach SMHS before the ambulance arrives — trauma bay ready.</a:t>
            </a:r>
            <a:endParaRPr lang="en-US" sz="950" dirty="0"/>
          </a:p>
        </p:txBody>
      </p:sp>
      <p:sp>
        <p:nvSpPr>
          <p:cNvPr id="18" name="Shape 12"/>
          <p:cNvSpPr/>
          <p:nvPr/>
        </p:nvSpPr>
        <p:spPr>
          <a:xfrm>
            <a:off x="5623560" y="1371600"/>
            <a:ext cx="3017520" cy="3200400"/>
          </a:xfrm>
          <a:prstGeom prst="roundRect">
            <a:avLst>
              <a:gd name="adj" fmla="val 2727"/>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sp>
        <p:nvSpPr>
          <p:cNvPr id="19" name="Shape 13"/>
          <p:cNvSpPr/>
          <p:nvPr/>
        </p:nvSpPr>
        <p:spPr>
          <a:xfrm>
            <a:off x="6858000" y="1600200"/>
            <a:ext cx="566928" cy="2743200"/>
          </a:xfrm>
          <a:prstGeom prst="rect">
            <a:avLst/>
          </a:prstGeom>
          <a:solidFill>
            <a:srgbClr val="1C2833"/>
          </a:solidFill>
          <a:ln/>
        </p:spPr>
      </p:sp>
      <p:sp>
        <p:nvSpPr>
          <p:cNvPr id="20" name="Shape 14"/>
          <p:cNvSpPr/>
          <p:nvPr/>
        </p:nvSpPr>
        <p:spPr>
          <a:xfrm>
            <a:off x="7114032" y="1600200"/>
            <a:ext cx="45720" cy="2743200"/>
          </a:xfrm>
          <a:prstGeom prst="rect">
            <a:avLst/>
          </a:prstGeom>
          <a:solidFill>
            <a:srgbClr val="00E676">
              <a:alpha val="70000"/>
            </a:srgbClr>
          </a:solidFill>
          <a:ln/>
        </p:spPr>
      </p:sp>
      <p:sp>
        <p:nvSpPr>
          <p:cNvPr id="21" name="Shape 15"/>
          <p:cNvSpPr/>
          <p:nvPr/>
        </p:nvSpPr>
        <p:spPr>
          <a:xfrm>
            <a:off x="6858000" y="1600200"/>
            <a:ext cx="566928" cy="2743200"/>
          </a:xfrm>
          <a:prstGeom prst="rect">
            <a:avLst/>
          </a:prstGeom>
          <a:solidFill>
            <a:srgbClr val="00E676">
              <a:alpha val="15000"/>
            </a:srgbClr>
          </a:solidFill>
          <a:ln/>
        </p:spPr>
      </p:sp>
      <p:sp>
        <p:nvSpPr>
          <p:cNvPr id="22" name="Shape 16"/>
          <p:cNvSpPr/>
          <p:nvPr/>
        </p:nvSpPr>
        <p:spPr>
          <a:xfrm>
            <a:off x="6565392" y="1920240"/>
            <a:ext cx="201168" cy="347472"/>
          </a:xfrm>
          <a:prstGeom prst="roundRect">
            <a:avLst>
              <a:gd name="adj" fmla="val 13636"/>
            </a:avLst>
          </a:prstGeom>
          <a:solidFill>
            <a:srgbClr val="FFA033"/>
          </a:solidFill>
          <a:ln/>
        </p:spPr>
      </p:sp>
      <p:sp>
        <p:nvSpPr>
          <p:cNvPr id="23" name="Shape 17"/>
          <p:cNvSpPr/>
          <p:nvPr/>
        </p:nvSpPr>
        <p:spPr>
          <a:xfrm>
            <a:off x="6565392" y="2743200"/>
            <a:ext cx="201168" cy="347472"/>
          </a:xfrm>
          <a:prstGeom prst="roundRect">
            <a:avLst>
              <a:gd name="adj" fmla="val 13636"/>
            </a:avLst>
          </a:prstGeom>
          <a:solidFill>
            <a:srgbClr val="FFA033"/>
          </a:solidFill>
          <a:ln/>
        </p:spPr>
      </p:sp>
      <p:sp>
        <p:nvSpPr>
          <p:cNvPr id="24" name="Shape 18"/>
          <p:cNvSpPr/>
          <p:nvPr/>
        </p:nvSpPr>
        <p:spPr>
          <a:xfrm>
            <a:off x="7543800" y="2331720"/>
            <a:ext cx="201168" cy="347472"/>
          </a:xfrm>
          <a:prstGeom prst="roundRect">
            <a:avLst>
              <a:gd name="adj" fmla="val 13636"/>
            </a:avLst>
          </a:prstGeom>
          <a:solidFill>
            <a:srgbClr val="FFA033"/>
          </a:solidFill>
          <a:ln/>
        </p:spPr>
      </p:sp>
      <p:sp>
        <p:nvSpPr>
          <p:cNvPr id="25" name="Shape 19"/>
          <p:cNvSpPr/>
          <p:nvPr/>
        </p:nvSpPr>
        <p:spPr>
          <a:xfrm>
            <a:off x="7543800" y="3200400"/>
            <a:ext cx="201168" cy="347472"/>
          </a:xfrm>
          <a:prstGeom prst="roundRect">
            <a:avLst>
              <a:gd name="adj" fmla="val 13636"/>
            </a:avLst>
          </a:prstGeom>
          <a:solidFill>
            <a:srgbClr val="FFA033"/>
          </a:solidFill>
          <a:ln/>
        </p:spPr>
      </p:sp>
      <p:sp>
        <p:nvSpPr>
          <p:cNvPr id="26" name="Shape 20"/>
          <p:cNvSpPr/>
          <p:nvPr/>
        </p:nvSpPr>
        <p:spPr>
          <a:xfrm>
            <a:off x="7022592" y="3794760"/>
            <a:ext cx="237744" cy="411480"/>
          </a:xfrm>
          <a:prstGeom prst="roundRect">
            <a:avLst>
              <a:gd name="adj" fmla="val 11538"/>
            </a:avLst>
          </a:prstGeom>
          <a:solidFill>
            <a:srgbClr val="F2F8FD"/>
          </a:solidFill>
          <a:ln w="15240">
            <a:solidFill>
              <a:srgbClr val="FF4D4D"/>
            </a:solidFill>
            <a:prstDash val="solid"/>
          </a:ln>
        </p:spPr>
      </p:sp>
      <p:sp>
        <p:nvSpPr>
          <p:cNvPr id="27" name="Text 21"/>
          <p:cNvSpPr/>
          <p:nvPr/>
        </p:nvSpPr>
        <p:spPr>
          <a:xfrm>
            <a:off x="5760720" y="4279392"/>
            <a:ext cx="2743200" cy="237744"/>
          </a:xfrm>
          <a:prstGeom prst="rect">
            <a:avLst/>
          </a:prstGeom>
          <a:noFill/>
          <a:ln/>
        </p:spPr>
        <p:txBody>
          <a:bodyPr wrap="square" lIns="0" tIns="0" rIns="0" bIns="0" rtlCol="0" anchor="ctr"/>
          <a:lstStyle/>
          <a:p>
            <a:pPr algn="ctr" indent="0" marL="0">
              <a:buNone/>
            </a:pPr>
            <a:r>
              <a:rPr lang="en-US" sz="850" i="1" dirty="0">
                <a:solidFill>
                  <a:srgbClr val="00E676"/>
                </a:solidFill>
                <a:latin typeface="Arial" pitchFamily="34" charset="0"/>
                <a:ea typeface="Arial" pitchFamily="34" charset="-122"/>
                <a:cs typeface="Arial" pitchFamily="34" charset="-120"/>
              </a:rPr>
              <a:t>🚑 ambulance on a fully clear lane</a:t>
            </a:r>
            <a:endParaRPr lang="en-US" sz="850" dirty="0"/>
          </a:p>
        </p:txBody>
      </p:sp>
      <p:sp>
        <p:nvSpPr>
          <p:cNvPr id="28" name="Text 22"/>
          <p:cNvSpPr/>
          <p:nvPr/>
        </p:nvSpPr>
        <p:spPr>
          <a:xfrm>
            <a:off x="5760720" y="1444752"/>
            <a:ext cx="2743200" cy="219456"/>
          </a:xfrm>
          <a:prstGeom prst="rect">
            <a:avLst/>
          </a:prstGeom>
          <a:noFill/>
          <a:ln/>
        </p:spPr>
        <p:txBody>
          <a:bodyPr wrap="square" lIns="0" tIns="0" rIns="0" bIns="0" rtlCol="0" anchor="ctr"/>
          <a:lstStyle/>
          <a:p>
            <a:pPr algn="ctr" indent="0" marL="0">
              <a:buNone/>
            </a:pPr>
            <a:r>
              <a:rPr lang="en-US" sz="750" dirty="0">
                <a:solidFill>
                  <a:srgbClr val="7E97AD"/>
                </a:solidFill>
                <a:latin typeface="Courier New" pitchFamily="34" charset="0"/>
                <a:ea typeface="Courier New" pitchFamily="34" charset="-122"/>
                <a:cs typeface="Courier New" pitchFamily="34" charset="-120"/>
              </a:rPr>
              <a:t>corridor active — all traffic pulled aside</a:t>
            </a:r>
            <a:endParaRPr lang="en-US" sz="750" dirty="0"/>
          </a:p>
        </p:txBody>
      </p:sp>
      <p:sp>
        <p:nvSpPr>
          <p:cNvPr id="29" name="Text 23"/>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06 · SAFETY AUTOMATIONS</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Preventing the Crash — Not Just Responding to It</a:t>
            </a:r>
            <a:endParaRPr lang="en-US" sz="3000" dirty="0"/>
          </a:p>
        </p:txBody>
      </p:sp>
      <p:sp>
        <p:nvSpPr>
          <p:cNvPr id="4" name="Shape 2"/>
          <p:cNvSpPr/>
          <p:nvPr/>
        </p:nvSpPr>
        <p:spPr>
          <a:xfrm>
            <a:off x="502920" y="1371600"/>
            <a:ext cx="3977640" cy="1517904"/>
          </a:xfrm>
          <a:prstGeom prst="roundRect">
            <a:avLst>
              <a:gd name="adj" fmla="val 4819"/>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704088" y="1572768"/>
            <a:ext cx="365760" cy="365760"/>
          </a:xfrm>
          <a:prstGeom prst="rect">
            <a:avLst/>
          </a:prstGeom>
        </p:spPr>
      </p:pic>
      <p:sp>
        <p:nvSpPr>
          <p:cNvPr id="6" name="Text 3"/>
          <p:cNvSpPr/>
          <p:nvPr/>
        </p:nvSpPr>
        <p:spPr>
          <a:xfrm>
            <a:off x="1216152" y="1536192"/>
            <a:ext cx="3108960" cy="365760"/>
          </a:xfrm>
          <a:prstGeom prst="rect">
            <a:avLst/>
          </a:prstGeom>
          <a:noFill/>
          <a:ln/>
        </p:spPr>
        <p:txBody>
          <a:bodyPr wrap="square" lIns="0" tIns="0" rIns="0" bIns="0" rtlCol="0" anchor="ctr"/>
          <a:lstStyle/>
          <a:p>
            <a:pPr indent="0" marL="0">
              <a:buNone/>
            </a:pPr>
            <a:r>
              <a:rPr lang="en-US" sz="1300" b="1" dirty="0">
                <a:solidFill>
                  <a:srgbClr val="FF4D4D"/>
                </a:solidFill>
                <a:latin typeface="Arial" pitchFamily="34" charset="0"/>
                <a:ea typeface="Arial" pitchFamily="34" charset="-122"/>
                <a:cs typeface="Arial" pitchFamily="34" charset="-120"/>
              </a:rPr>
              <a:t>BRAKE FAILURE CASCADE</a:t>
            </a:r>
            <a:endParaRPr lang="en-US" sz="1300" dirty="0"/>
          </a:p>
        </p:txBody>
      </p:sp>
      <p:sp>
        <p:nvSpPr>
          <p:cNvPr id="7" name="Text 4"/>
          <p:cNvSpPr/>
          <p:nvPr/>
        </p:nvSpPr>
        <p:spPr>
          <a:xfrm>
            <a:off x="722376" y="1993392"/>
            <a:ext cx="3566160" cy="822960"/>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One vehicle's brake failure alerts every vehicle within 500 m in under 0.5 seconds. Traffic control notified simultaneously.</a:t>
            </a:r>
            <a:endParaRPr lang="en-US" sz="1000" dirty="0"/>
          </a:p>
        </p:txBody>
      </p:sp>
      <p:sp>
        <p:nvSpPr>
          <p:cNvPr id="8" name="Shape 5"/>
          <p:cNvSpPr/>
          <p:nvPr/>
        </p:nvSpPr>
        <p:spPr>
          <a:xfrm>
            <a:off x="4663440" y="1371600"/>
            <a:ext cx="3977640" cy="1517904"/>
          </a:xfrm>
          <a:prstGeom prst="roundRect">
            <a:avLst>
              <a:gd name="adj" fmla="val 4819"/>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4864608" y="1572768"/>
            <a:ext cx="365760" cy="365760"/>
          </a:xfrm>
          <a:prstGeom prst="rect">
            <a:avLst/>
          </a:prstGeom>
        </p:spPr>
      </p:pic>
      <p:sp>
        <p:nvSpPr>
          <p:cNvPr id="10" name="Text 6"/>
          <p:cNvSpPr/>
          <p:nvPr/>
        </p:nvSpPr>
        <p:spPr>
          <a:xfrm>
            <a:off x="5376672" y="1536192"/>
            <a:ext cx="3108960" cy="365760"/>
          </a:xfrm>
          <a:prstGeom prst="rect">
            <a:avLst/>
          </a:prstGeom>
          <a:noFill/>
          <a:ln/>
        </p:spPr>
        <p:txBody>
          <a:bodyPr wrap="square" lIns="0" tIns="0" rIns="0" bIns="0" rtlCol="0" anchor="ctr"/>
          <a:lstStyle/>
          <a:p>
            <a:pPr indent="0" marL="0">
              <a:buNone/>
            </a:pPr>
            <a:r>
              <a:rPr lang="en-US" sz="1300" b="1" dirty="0">
                <a:solidFill>
                  <a:srgbClr val="00C8FF"/>
                </a:solidFill>
                <a:latin typeface="Arial" pitchFamily="34" charset="0"/>
                <a:ea typeface="Arial" pitchFamily="34" charset="-122"/>
                <a:cs typeface="Arial" pitchFamily="34" charset="-120"/>
              </a:rPr>
              <a:t>REMOTE ECU SPEED LOCK</a:t>
            </a:r>
            <a:endParaRPr lang="en-US" sz="1300" dirty="0"/>
          </a:p>
        </p:txBody>
      </p:sp>
      <p:sp>
        <p:nvSpPr>
          <p:cNvPr id="11" name="Text 7"/>
          <p:cNvSpPr/>
          <p:nvPr/>
        </p:nvSpPr>
        <p:spPr>
          <a:xfrm>
            <a:off x="4882896" y="1993392"/>
            <a:ext cx="3566160" cy="822960"/>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Server sends an OBD-II command that physically limits vehicle speed — gradual 8 km/h reduction per tick, driver cannot override.</a:t>
            </a:r>
            <a:endParaRPr lang="en-US" sz="1000" dirty="0"/>
          </a:p>
        </p:txBody>
      </p:sp>
      <p:sp>
        <p:nvSpPr>
          <p:cNvPr id="12" name="Shape 8"/>
          <p:cNvSpPr/>
          <p:nvPr/>
        </p:nvSpPr>
        <p:spPr>
          <a:xfrm>
            <a:off x="502920" y="3044952"/>
            <a:ext cx="3977640" cy="1517904"/>
          </a:xfrm>
          <a:prstGeom prst="roundRect">
            <a:avLst>
              <a:gd name="adj" fmla="val 4819"/>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704088" y="3246120"/>
            <a:ext cx="365760" cy="365760"/>
          </a:xfrm>
          <a:prstGeom prst="rect">
            <a:avLst/>
          </a:prstGeom>
        </p:spPr>
      </p:pic>
      <p:sp>
        <p:nvSpPr>
          <p:cNvPr id="14" name="Text 9"/>
          <p:cNvSpPr/>
          <p:nvPr/>
        </p:nvSpPr>
        <p:spPr>
          <a:xfrm>
            <a:off x="1216152" y="3209544"/>
            <a:ext cx="3108960" cy="365760"/>
          </a:xfrm>
          <a:prstGeom prst="rect">
            <a:avLst/>
          </a:prstGeom>
          <a:noFill/>
          <a:ln/>
        </p:spPr>
        <p:txBody>
          <a:bodyPr wrap="square" lIns="0" tIns="0" rIns="0" bIns="0" rtlCol="0" anchor="ctr"/>
          <a:lstStyle/>
          <a:p>
            <a:pPr indent="0" marL="0">
              <a:buNone/>
            </a:pPr>
            <a:r>
              <a:rPr lang="en-US" sz="1300" b="1" dirty="0">
                <a:solidFill>
                  <a:srgbClr val="FFA033"/>
                </a:solidFill>
                <a:latin typeface="Arial" pitchFamily="34" charset="0"/>
                <a:ea typeface="Arial" pitchFamily="34" charset="-122"/>
                <a:cs typeface="Arial" pitchFamily="34" charset="-120"/>
              </a:rPr>
              <a:t>WEATHER DANGER MULTIPLIERS</a:t>
            </a:r>
            <a:endParaRPr lang="en-US" sz="1300" dirty="0"/>
          </a:p>
        </p:txBody>
      </p:sp>
      <p:sp>
        <p:nvSpPr>
          <p:cNvPr id="15" name="Text 10"/>
          <p:cNvSpPr/>
          <p:nvPr/>
        </p:nvSpPr>
        <p:spPr>
          <a:xfrm>
            <a:off x="722376" y="3666744"/>
            <a:ext cx="3566160" cy="822960"/>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Open-Meteo live weather for all 8 zones every 15 min. Fog ×2.0, Snow ×2.8, Storm ×2.5 — AI scores adjust automatically.</a:t>
            </a:r>
            <a:endParaRPr lang="en-US" sz="1000" dirty="0"/>
          </a:p>
        </p:txBody>
      </p:sp>
      <p:sp>
        <p:nvSpPr>
          <p:cNvPr id="16" name="Shape 11"/>
          <p:cNvSpPr/>
          <p:nvPr/>
        </p:nvSpPr>
        <p:spPr>
          <a:xfrm>
            <a:off x="4663440" y="3044952"/>
            <a:ext cx="3977640" cy="1517904"/>
          </a:xfrm>
          <a:prstGeom prst="roundRect">
            <a:avLst>
              <a:gd name="adj" fmla="val 4819"/>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4864608" y="3246120"/>
            <a:ext cx="365760" cy="365760"/>
          </a:xfrm>
          <a:prstGeom prst="rect">
            <a:avLst/>
          </a:prstGeom>
        </p:spPr>
      </p:pic>
      <p:sp>
        <p:nvSpPr>
          <p:cNvPr id="18" name="Text 12"/>
          <p:cNvSpPr/>
          <p:nvPr/>
        </p:nvSpPr>
        <p:spPr>
          <a:xfrm>
            <a:off x="5376672" y="3209544"/>
            <a:ext cx="3108960" cy="365760"/>
          </a:xfrm>
          <a:prstGeom prst="rect">
            <a:avLst/>
          </a:prstGeom>
          <a:noFill/>
          <a:ln/>
        </p:spPr>
        <p:txBody>
          <a:bodyPr wrap="square" lIns="0" tIns="0" rIns="0" bIns="0" rtlCol="0" anchor="ctr"/>
          <a:lstStyle/>
          <a:p>
            <a:pPr indent="0" marL="0">
              <a:buNone/>
            </a:pPr>
            <a:r>
              <a:rPr lang="en-US" sz="1300" b="1" dirty="0">
                <a:solidFill>
                  <a:srgbClr val="00E676"/>
                </a:solidFill>
                <a:latin typeface="Arial" pitchFamily="34" charset="0"/>
                <a:ea typeface="Arial" pitchFamily="34" charset="-122"/>
                <a:cs typeface="Arial" pitchFamily="34" charset="-120"/>
              </a:rPr>
              <a:t>AUTO CHALLAN SYSTEM</a:t>
            </a:r>
            <a:endParaRPr lang="en-US" sz="1300" dirty="0"/>
          </a:p>
        </p:txBody>
      </p:sp>
      <p:sp>
        <p:nvSpPr>
          <p:cNvPr id="19" name="Text 13"/>
          <p:cNvSpPr/>
          <p:nvPr/>
        </p:nvSpPr>
        <p:spPr>
          <a:xfrm>
            <a:off x="4882896" y="3666744"/>
            <a:ext cx="3566160" cy="822960"/>
          </a:xfrm>
          <a:prstGeom prst="rect">
            <a:avLst/>
          </a:prstGeom>
          <a:noFill/>
          <a:ln/>
        </p:spPr>
        <p:txBody>
          <a:bodyPr wrap="square" lIns="0" tIns="0" rIns="0" bIns="0" rtlCol="0" anchor="ctr"/>
          <a:lstStyle/>
          <a:p>
            <a:pPr indent="0" marL="0">
              <a:buNone/>
            </a:pPr>
            <a:r>
              <a:rPr lang="en-US" sz="1000" dirty="0">
                <a:solidFill>
                  <a:srgbClr val="F2F8FD"/>
                </a:solidFill>
                <a:latin typeface="Arial" pitchFamily="34" charset="0"/>
                <a:ea typeface="Arial" pitchFamily="34" charset="-122"/>
                <a:cs typeface="Arial" pitchFamily="34" charset="-120"/>
              </a:rPr>
              <a:t>Overspeed in a danger zone → ₹500–₹3,000 digital challan issued instantly, logged to MySQL with GPS proof, SMS to driver.</a:t>
            </a:r>
            <a:endParaRPr lang="en-US" sz="1000" dirty="0"/>
          </a:p>
        </p:txBody>
      </p:sp>
      <p:sp>
        <p:nvSpPr>
          <p:cNvPr id="20" name="Text 14"/>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07 · AI / ML ENGINE</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XGBoost Crash-Risk Prediction</a:t>
            </a:r>
            <a:endParaRPr lang="en-US" sz="3000" dirty="0"/>
          </a:p>
        </p:txBody>
      </p:sp>
      <p:pic>
        <p:nvPicPr>
          <p:cNvPr id="4" name="Image 0" descr="preencoded.png">    </p:cNvPr>
          <p:cNvPicPr>
            <a:picLocks noChangeAspect="1"/>
          </p:cNvPicPr>
          <p:nvPr/>
        </p:nvPicPr>
        <p:blipFill>
          <a:blip r:embed="rId1"/>
          <a:stretch>
            <a:fillRect/>
          </a:stretch>
        </p:blipFill>
        <p:spPr>
          <a:xfrm>
            <a:off x="502920" y="1371600"/>
            <a:ext cx="457200" cy="457200"/>
          </a:xfrm>
          <a:prstGeom prst="rect">
            <a:avLst/>
          </a:prstGeom>
        </p:spPr>
      </p:pic>
      <p:sp>
        <p:nvSpPr>
          <p:cNvPr id="5" name="Text 2"/>
          <p:cNvSpPr/>
          <p:nvPr/>
        </p:nvSpPr>
        <p:spPr>
          <a:xfrm>
            <a:off x="1097280" y="1389888"/>
            <a:ext cx="3931920" cy="411480"/>
          </a:xfrm>
          <a:prstGeom prst="rect">
            <a:avLst/>
          </a:prstGeom>
          <a:noFill/>
          <a:ln/>
        </p:spPr>
        <p:txBody>
          <a:bodyPr wrap="square" lIns="0" tIns="0" rIns="0" bIns="0" rtlCol="0" anchor="ctr"/>
          <a:lstStyle/>
          <a:p>
            <a:pPr indent="0" marL="0">
              <a:buNone/>
            </a:pPr>
            <a:r>
              <a:rPr lang="en-US" sz="1500" b="1" dirty="0">
                <a:solidFill>
                  <a:srgbClr val="F2F8FD"/>
                </a:solidFill>
                <a:latin typeface="Arial" pitchFamily="34" charset="0"/>
                <a:ea typeface="Arial" pitchFamily="34" charset="-122"/>
                <a:cs typeface="Arial" pitchFamily="34" charset="-120"/>
              </a:rPr>
              <a:t>Predicts the crash before it happens</a:t>
            </a:r>
            <a:endParaRPr lang="en-US" sz="1500" dirty="0"/>
          </a:p>
        </p:txBody>
      </p:sp>
      <p:sp>
        <p:nvSpPr>
          <p:cNvPr id="6" name="Text 3"/>
          <p:cNvSpPr/>
          <p:nvPr/>
        </p:nvSpPr>
        <p:spPr>
          <a:xfrm>
            <a:off x="548640" y="2011680"/>
            <a:ext cx="4480560" cy="2651760"/>
          </a:xfrm>
          <a:prstGeom prst="rect">
            <a:avLst/>
          </a:prstGeom>
          <a:noFill/>
          <a:ln/>
        </p:spPr>
        <p:txBody>
          <a:bodyPr wrap="square" lIns="0" tIns="0" rIns="0" bIns="0" rtlCol="0" anchor="ctr"/>
          <a:lstStyle/>
          <a:p>
            <a:pPr marL="177800" indent="-177800">
              <a:spcAft>
                <a:spcPts val="800"/>
              </a:spcAft>
              <a:buSzPct val="100000"/>
              <a:buChar char="▪"/>
            </a:pPr>
            <a:r>
              <a:rPr lang="en-US" sz="1100" dirty="0">
                <a:solidFill>
                  <a:srgbClr val="F2F8FD"/>
                </a:solidFill>
                <a:latin typeface="Arial" pitchFamily="34" charset="0"/>
                <a:ea typeface="Arial" pitchFamily="34" charset="-122"/>
                <a:cs typeface="Arial" pitchFamily="34" charset="-120"/>
              </a:rPr>
              <a:t>25 input features — speed, altitude, curvature, weather, fatigue, zone proximity</a:t>
            </a:r>
            <a:endParaRPr lang="en-US" sz="1100" dirty="0"/>
          </a:p>
          <a:p>
            <a:pPr marL="177800" indent="-177800">
              <a:spcAft>
                <a:spcPts val="800"/>
              </a:spcAft>
              <a:buSzPct val="100000"/>
              <a:buChar char="▪"/>
            </a:pPr>
            <a:r>
              <a:rPr lang="en-US" sz="1100" dirty="0">
                <a:solidFill>
                  <a:srgbClr val="F2F8FD"/>
                </a:solidFill>
                <a:latin typeface="Arial" pitchFamily="34" charset="0"/>
                <a:ea typeface="Arial" pitchFamily="34" charset="-122"/>
                <a:cs typeface="Arial" pitchFamily="34" charset="-120"/>
              </a:rPr>
              <a:t>Trained on 20,000 J&amp;K-modelled samples · ~87% accuracy</a:t>
            </a:r>
            <a:endParaRPr lang="en-US" sz="1100" dirty="0"/>
          </a:p>
          <a:p>
            <a:pPr marL="177800" indent="-177800">
              <a:spcAft>
                <a:spcPts val="800"/>
              </a:spcAft>
              <a:buSzPct val="100000"/>
              <a:buChar char="▪"/>
            </a:pPr>
            <a:r>
              <a:rPr lang="en-US" sz="1100" dirty="0">
                <a:solidFill>
                  <a:srgbClr val="F2F8FD"/>
                </a:solidFill>
                <a:latin typeface="Arial" pitchFamily="34" charset="0"/>
                <a:ea typeface="Arial" pitchFamily="34" charset="-122"/>
                <a:cs typeface="Arial" pitchFamily="34" charset="-120"/>
              </a:rPr>
              <a:t>Outputs live danger score 0–1 for every vehicle, every 10 seconds</a:t>
            </a:r>
            <a:endParaRPr lang="en-US" sz="1100" dirty="0"/>
          </a:p>
          <a:p>
            <a:pPr marL="177800" indent="-177800">
              <a:spcAft>
                <a:spcPts val="800"/>
              </a:spcAft>
              <a:buSzPct val="100000"/>
              <a:buChar char="▪"/>
            </a:pPr>
            <a:r>
              <a:rPr lang="en-US" sz="1100" dirty="0">
                <a:solidFill>
                  <a:srgbClr val="F2F8FD"/>
                </a:solidFill>
                <a:latin typeface="Arial" pitchFamily="34" charset="0"/>
                <a:ea typeface="Arial" pitchFamily="34" charset="-122"/>
                <a:cs typeface="Arial" pitchFamily="34" charset="-120"/>
              </a:rPr>
              <a:t>FastAPI microservice: /predict · /predict-batch · /retrain · /model-info</a:t>
            </a:r>
            <a:endParaRPr lang="en-US" sz="1100" dirty="0"/>
          </a:p>
          <a:p>
            <a:pPr marL="177800" indent="-177800">
              <a:spcAft>
                <a:spcPts val="800"/>
              </a:spcAft>
              <a:buSzPct val="100000"/>
              <a:buChar char="▪"/>
            </a:pPr>
            <a:r>
              <a:rPr lang="en-US" sz="1100" dirty="0">
                <a:solidFill>
                  <a:srgbClr val="F2F8FD"/>
                </a:solidFill>
                <a:latin typeface="Arial" pitchFamily="34" charset="0"/>
                <a:ea typeface="Arial" pitchFamily="34" charset="-122"/>
                <a:cs typeface="Arial" pitchFamily="34" charset="-120"/>
              </a:rPr>
              <a:t>Real-data pipeline ready: NCRB accident data + iRAD + IMD weather history</a:t>
            </a:r>
            <a:endParaRPr lang="en-US" sz="1100" dirty="0"/>
          </a:p>
        </p:txBody>
      </p:sp>
      <p:graphicFrame>
        <p:nvGraphicFramePr>
          <p:cNvPr id="7" name="Chart 0" descr=""/>
          <p:cNvGraphicFramePr/>
          <p:nvPr/>
        </p:nvGraphicFramePr>
        <p:xfrm>
          <a:off x="5212080" y="1417320"/>
          <a:ext cx="3474720" cy="31546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08 · HARDWARE</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A ₹1,400 Device That Works in Any Vehicle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892040" cy="914400"/>
        </p:xfrm>
        <a:graphic>
          <a:graphicData uri="http://schemas.openxmlformats.org/drawingml/2006/table">
            <a:tbl>
              <a:tblPr/>
              <a:tblGrid>
                <a:gridCol w="1417320"/>
                <a:gridCol w="2606040"/>
                <a:gridCol w="868680"/>
              </a:tblGrid>
              <a:tr h="384048">
                <a:tc>
                  <a:txBody>
                    <a:bodyPr/>
                    <a:lstStyle/>
                    <a:p>
                      <a:pPr indent="0" marL="0">
                        <a:buNone/>
                      </a:pPr>
                      <a:r>
                        <a:rPr lang="en-US" sz="950" b="1" dirty="0">
                          <a:solidFill>
                            <a:srgbClr val="00C8FF"/>
                          </a:solidFill>
                          <a:latin typeface="Courier New" pitchFamily="34" charset="0"/>
                          <a:ea typeface="Courier New" pitchFamily="34" charset="-122"/>
                          <a:cs typeface="Courier New" pitchFamily="34" charset="-120"/>
                        </a:rPr>
                        <a:t>COMPONENT</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c>
                  <a:txBody>
                    <a:bodyPr/>
                    <a:lstStyle/>
                    <a:p>
                      <a:pPr indent="0" marL="0">
                        <a:buNone/>
                      </a:pPr>
                      <a:r>
                        <a:rPr lang="en-US" sz="950" b="1" dirty="0">
                          <a:solidFill>
                            <a:srgbClr val="00C8FF"/>
                          </a:solidFill>
                          <a:latin typeface="Courier New" pitchFamily="34" charset="0"/>
                          <a:ea typeface="Courier New" pitchFamily="34" charset="-122"/>
                          <a:cs typeface="Courier New" pitchFamily="34" charset="-120"/>
                        </a:rPr>
                        <a:t>ROLE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c>
                  <a:txBody>
                    <a:bodyPr/>
                    <a:lstStyle/>
                    <a:p>
                      <a:pPr indent="0" marL="0">
                        <a:buNone/>
                      </a:pPr>
                      <a:r>
                        <a:rPr lang="en-US" sz="950" b="1" dirty="0">
                          <a:solidFill>
                            <a:srgbClr val="00C8FF"/>
                          </a:solidFill>
                          <a:latin typeface="Courier New" pitchFamily="34" charset="0"/>
                          <a:ea typeface="Courier New" pitchFamily="34" charset="-122"/>
                          <a:cs typeface="Courier New" pitchFamily="34" charset="-120"/>
                        </a:rPr>
                        <a:t>COST</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r>
              <a:tr h="384048">
                <a:tc>
                  <a:txBody>
                    <a:bodyPr/>
                    <a:lstStyle/>
                    <a:p>
                      <a:pPr indent="0" marL="0">
                        <a:buNone/>
                      </a:pPr>
                      <a:r>
                        <a:rPr lang="en-US" sz="1000" b="1" dirty="0">
                          <a:solidFill>
                            <a:srgbClr val="F2F8FD"/>
                          </a:solidFill>
                          <a:latin typeface="Arial" pitchFamily="34" charset="0"/>
                          <a:ea typeface="Arial" pitchFamily="34" charset="-122"/>
                          <a:cs typeface="Arial" pitchFamily="34" charset="-120"/>
                        </a:rPr>
                        <a:t>ESP32</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7E97AD"/>
                          </a:solidFill>
                          <a:latin typeface="Arial" pitchFamily="34" charset="0"/>
                          <a:ea typeface="Arial" pitchFamily="34" charset="-122"/>
                          <a:cs typeface="Arial" pitchFamily="34" charset="-120"/>
                        </a:rPr>
                        <a:t>WiFi + processing brain</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00E676"/>
                          </a:solidFill>
                          <a:latin typeface="Arial" pitchFamily="34" charset="0"/>
                          <a:ea typeface="Arial" pitchFamily="34" charset="-122"/>
                          <a:cs typeface="Arial" pitchFamily="34" charset="-120"/>
                        </a:rPr>
                        <a:t>₹350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r h="384048">
                <a:tc>
                  <a:txBody>
                    <a:bodyPr/>
                    <a:lstStyle/>
                    <a:p>
                      <a:pPr indent="0" marL="0">
                        <a:buNone/>
                      </a:pPr>
                      <a:r>
                        <a:rPr lang="en-US" sz="1000" b="1" dirty="0">
                          <a:solidFill>
                            <a:srgbClr val="F2F8FD"/>
                          </a:solidFill>
                          <a:latin typeface="Arial" pitchFamily="34" charset="0"/>
                          <a:ea typeface="Arial" pitchFamily="34" charset="-122"/>
                          <a:cs typeface="Arial" pitchFamily="34" charset="-120"/>
                        </a:rPr>
                        <a:t>ELM327 (OBD-II)</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1000" dirty="0">
                          <a:solidFill>
                            <a:srgbClr val="7E97AD"/>
                          </a:solidFill>
                          <a:latin typeface="Arial" pitchFamily="34" charset="0"/>
                          <a:ea typeface="Arial" pitchFamily="34" charset="-122"/>
                          <a:cs typeface="Arial" pitchFamily="34" charset="-120"/>
                        </a:rPr>
                        <a:t>Reads speed, RPM, engine temp</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1000" dirty="0">
                          <a:solidFill>
                            <a:srgbClr val="00E676"/>
                          </a:solidFill>
                          <a:latin typeface="Arial" pitchFamily="34" charset="0"/>
                          <a:ea typeface="Arial" pitchFamily="34" charset="-122"/>
                          <a:cs typeface="Arial" pitchFamily="34" charset="-120"/>
                        </a:rPr>
                        <a:t>₹200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r>
              <a:tr h="384048">
                <a:tc>
                  <a:txBody>
                    <a:bodyPr/>
                    <a:lstStyle/>
                    <a:p>
                      <a:pPr indent="0" marL="0">
                        <a:buNone/>
                      </a:pPr>
                      <a:r>
                        <a:rPr lang="en-US" sz="1000" b="1" dirty="0">
                          <a:solidFill>
                            <a:srgbClr val="F2F8FD"/>
                          </a:solidFill>
                          <a:latin typeface="Arial" pitchFamily="34" charset="0"/>
                          <a:ea typeface="Arial" pitchFamily="34" charset="-122"/>
                          <a:cs typeface="Arial" pitchFamily="34" charset="-120"/>
                        </a:rPr>
                        <a:t>NEO-6M GPS</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7E97AD"/>
                          </a:solidFill>
                          <a:latin typeface="Arial" pitchFamily="34" charset="0"/>
                          <a:ea typeface="Arial" pitchFamily="34" charset="-122"/>
                          <a:cs typeface="Arial" pitchFamily="34" charset="-120"/>
                        </a:rPr>
                        <a:t>Live location, works in valleys</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00E676"/>
                          </a:solidFill>
                          <a:latin typeface="Arial" pitchFamily="34" charset="0"/>
                          <a:ea typeface="Arial" pitchFamily="34" charset="-122"/>
                          <a:cs typeface="Arial" pitchFamily="34" charset="-120"/>
                        </a:rPr>
                        <a:t>₹300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r h="384048">
                <a:tc>
                  <a:txBody>
                    <a:bodyPr/>
                    <a:lstStyle/>
                    <a:p>
                      <a:pPr indent="0" marL="0">
                        <a:buNone/>
                      </a:pPr>
                      <a:r>
                        <a:rPr lang="en-US" sz="1000" b="1" dirty="0">
                          <a:solidFill>
                            <a:srgbClr val="F2F8FD"/>
                          </a:solidFill>
                          <a:latin typeface="Arial" pitchFamily="34" charset="0"/>
                          <a:ea typeface="Arial" pitchFamily="34" charset="-122"/>
                          <a:cs typeface="Arial" pitchFamily="34" charset="-120"/>
                        </a:rPr>
                        <a:t>MPU6050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1000" dirty="0">
                          <a:solidFill>
                            <a:srgbClr val="7E97AD"/>
                          </a:solidFill>
                          <a:latin typeface="Arial" pitchFamily="34" charset="0"/>
                          <a:ea typeface="Arial" pitchFamily="34" charset="-122"/>
                          <a:cs typeface="Arial" pitchFamily="34" charset="-120"/>
                        </a:rPr>
                        <a:t>G-force crash detection (&gt;6G)</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1000" dirty="0">
                          <a:solidFill>
                            <a:srgbClr val="00E676"/>
                          </a:solidFill>
                          <a:latin typeface="Arial" pitchFamily="34" charset="0"/>
                          <a:ea typeface="Arial" pitchFamily="34" charset="-122"/>
                          <a:cs typeface="Arial" pitchFamily="34" charset="-120"/>
                        </a:rPr>
                        <a:t>₹150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r>
              <a:tr h="384048">
                <a:tc>
                  <a:txBody>
                    <a:bodyPr/>
                    <a:lstStyle/>
                    <a:p>
                      <a:pPr indent="0" marL="0">
                        <a:buNone/>
                      </a:pPr>
                      <a:r>
                        <a:rPr lang="en-US" sz="1000" b="1" dirty="0">
                          <a:solidFill>
                            <a:srgbClr val="F2F8FD"/>
                          </a:solidFill>
                          <a:latin typeface="Arial" pitchFamily="34" charset="0"/>
                          <a:ea typeface="Arial" pitchFamily="34" charset="-122"/>
                          <a:cs typeface="Arial" pitchFamily="34" charset="-120"/>
                        </a:rPr>
                        <a:t>Wiring + case + misc</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7E97AD"/>
                          </a:solidFill>
                          <a:latin typeface="Arial" pitchFamily="34" charset="0"/>
                          <a:ea typeface="Arial" pitchFamily="34" charset="-122"/>
                          <a:cs typeface="Arial" pitchFamily="34" charset="-120"/>
                        </a:rPr>
                        <a:t>Assembly</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1000" dirty="0">
                          <a:solidFill>
                            <a:srgbClr val="00E676"/>
                          </a:solidFill>
                          <a:latin typeface="Arial" pitchFamily="34" charset="0"/>
                          <a:ea typeface="Arial" pitchFamily="34" charset="-122"/>
                          <a:cs typeface="Arial" pitchFamily="34" charset="-120"/>
                        </a:rPr>
                        <a:t>₹400</a:t>
                      </a:r>
                      <a:endParaRPr lang="en-US" sz="100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bl>
          </a:graphicData>
        </a:graphic>
      </p:graphicFrame>
      <p:sp>
        <p:nvSpPr>
          <p:cNvPr id="5" name="Shape 2"/>
          <p:cNvSpPr/>
          <p:nvPr/>
        </p:nvSpPr>
        <p:spPr>
          <a:xfrm>
            <a:off x="502920" y="3886200"/>
            <a:ext cx="4892040" cy="658368"/>
          </a:xfrm>
          <a:prstGeom prst="roundRect">
            <a:avLst>
              <a:gd name="adj" fmla="val 11111"/>
            </a:avLst>
          </a:prstGeom>
          <a:solidFill>
            <a:srgbClr val="0D1F16"/>
          </a:solidFill>
          <a:ln w="12700">
            <a:solidFill>
              <a:srgbClr val="00E676"/>
            </a:solidFill>
            <a:prstDash val="solid"/>
          </a:ln>
        </p:spPr>
      </p:sp>
      <p:sp>
        <p:nvSpPr>
          <p:cNvPr id="6" name="Text 3"/>
          <p:cNvSpPr/>
          <p:nvPr/>
        </p:nvSpPr>
        <p:spPr>
          <a:xfrm>
            <a:off x="777240" y="3886200"/>
            <a:ext cx="4480560" cy="658368"/>
          </a:xfrm>
          <a:prstGeom prst="rect">
            <a:avLst/>
          </a:prstGeom>
          <a:noFill/>
          <a:ln/>
        </p:spPr>
        <p:txBody>
          <a:bodyPr wrap="square" lIns="0" tIns="0" rIns="0" bIns="0" rtlCol="0" anchor="ctr"/>
          <a:lstStyle/>
          <a:p>
            <a:pPr indent="0" marL="0">
              <a:buNone/>
            </a:pPr>
            <a:r>
              <a:rPr lang="en-US" sz="1200" dirty="0">
                <a:solidFill>
                  <a:srgbClr val="7E97AD"/>
                </a:solidFill>
                <a:latin typeface="Arial" pitchFamily="34" charset="0"/>
                <a:ea typeface="Arial" pitchFamily="34" charset="-122"/>
                <a:cs typeface="Arial" pitchFamily="34" charset="-120"/>
              </a:rPr>
              <a:t>TOTAL:  </a:t>
            </a:r>
            <a:pPr indent="0" marL="0">
              <a:buNone/>
            </a:pPr>
            <a:r>
              <a:rPr lang="en-US" sz="1700" b="1" dirty="0">
                <a:solidFill>
                  <a:srgbClr val="00E676"/>
                </a:solidFill>
                <a:latin typeface="Arial" pitchFamily="34" charset="0"/>
                <a:ea typeface="Arial" pitchFamily="34" charset="-122"/>
                <a:cs typeface="Arial" pitchFamily="34" charset="-120"/>
              </a:rPr>
              <a:t>₹1,400 / vehicle</a:t>
            </a:r>
            <a:pPr indent="0" marL="0">
              <a:buNone/>
            </a:pPr>
            <a:r>
              <a:rPr lang="en-US" sz="1050" i="1" dirty="0">
                <a:solidFill>
                  <a:srgbClr val="7E97AD"/>
                </a:solidFill>
                <a:latin typeface="Arial" pitchFamily="34" charset="0"/>
                <a:ea typeface="Arial" pitchFamily="34" charset="-122"/>
                <a:cs typeface="Arial" pitchFamily="34" charset="-120"/>
              </a:rPr>
              <a:t>   —   95% cheaper than commercial telematics</a:t>
            </a:r>
            <a:endParaRPr lang="en-US" sz="1200" dirty="0"/>
          </a:p>
        </p:txBody>
      </p:sp>
      <p:sp>
        <p:nvSpPr>
          <p:cNvPr id="7" name="Text 4"/>
          <p:cNvSpPr/>
          <p:nvPr/>
        </p:nvSpPr>
        <p:spPr>
          <a:xfrm>
            <a:off x="5715000" y="1371600"/>
            <a:ext cx="2926080" cy="274320"/>
          </a:xfrm>
          <a:prstGeom prst="rect">
            <a:avLst/>
          </a:prstGeom>
          <a:noFill/>
          <a:ln/>
        </p:spPr>
        <p:txBody>
          <a:bodyPr wrap="square" lIns="0" tIns="0" rIns="0" bIns="0" rtlCol="0" anchor="ctr"/>
          <a:lstStyle/>
          <a:p>
            <a:pPr indent="0" marL="0">
              <a:buNone/>
            </a:pPr>
            <a:r>
              <a:rPr lang="en-US" sz="1000" spc="300" kern="0" dirty="0">
                <a:solidFill>
                  <a:srgbClr val="00C8FF"/>
                </a:solidFill>
                <a:latin typeface="Courier New" pitchFamily="34" charset="0"/>
                <a:ea typeface="Courier New" pitchFamily="34" charset="-122"/>
                <a:cs typeface="Courier New" pitchFamily="34" charset="-120"/>
              </a:rPr>
              <a:t>WHAT IT DOES</a:t>
            </a:r>
            <a:endParaRPr lang="en-US" sz="1000" dirty="0"/>
          </a:p>
        </p:txBody>
      </p:sp>
      <p:pic>
        <p:nvPicPr>
          <p:cNvPr id="8" name="Image 0" descr="preencoded.png">    </p:cNvPr>
          <p:cNvPicPr>
            <a:picLocks noChangeAspect="1"/>
          </p:cNvPicPr>
          <p:nvPr/>
        </p:nvPicPr>
        <p:blipFill>
          <a:blip r:embed="rId1"/>
          <a:stretch>
            <a:fillRect/>
          </a:stretch>
        </p:blipFill>
        <p:spPr>
          <a:xfrm>
            <a:off x="5715000" y="1801368"/>
            <a:ext cx="310896" cy="310896"/>
          </a:xfrm>
          <a:prstGeom prst="rect">
            <a:avLst/>
          </a:prstGeom>
        </p:spPr>
      </p:pic>
      <p:sp>
        <p:nvSpPr>
          <p:cNvPr id="9" name="Text 5"/>
          <p:cNvSpPr/>
          <p:nvPr/>
        </p:nvSpPr>
        <p:spPr>
          <a:xfrm>
            <a:off x="6172200" y="1783080"/>
            <a:ext cx="2560320" cy="621792"/>
          </a:xfrm>
          <a:prstGeom prst="rect">
            <a:avLst/>
          </a:prstGeom>
          <a:noFill/>
          <a:ln/>
        </p:spPr>
        <p:txBody>
          <a:bodyPr wrap="square" lIns="0" tIns="0" rIns="0" bIns="0" rtlCol="0" anchor="ctr"/>
          <a:lstStyle/>
          <a:p>
            <a:pPr indent="0" marL="0">
              <a:buNone/>
            </a:pPr>
            <a:r>
              <a:rPr lang="en-US" sz="1050" dirty="0">
                <a:solidFill>
                  <a:srgbClr val="F2F8FD"/>
                </a:solidFill>
                <a:latin typeface="Arial" pitchFamily="34" charset="0"/>
                <a:ea typeface="Arial" pitchFamily="34" charset="-122"/>
                <a:cs typeface="Arial" pitchFamily="34" charset="-120"/>
              </a:rPr>
              <a:t>Sends JSON telemetry over WiFi every 2 s</a:t>
            </a:r>
            <a:endParaRPr lang="en-US" sz="1050" dirty="0"/>
          </a:p>
        </p:txBody>
      </p:sp>
      <p:pic>
        <p:nvPicPr>
          <p:cNvPr id="10" name="Image 1" descr="preencoded.png">    </p:cNvPr>
          <p:cNvPicPr>
            <a:picLocks noChangeAspect="1"/>
          </p:cNvPicPr>
          <p:nvPr/>
        </p:nvPicPr>
        <p:blipFill>
          <a:blip r:embed="rId2"/>
          <a:stretch>
            <a:fillRect/>
          </a:stretch>
        </p:blipFill>
        <p:spPr>
          <a:xfrm>
            <a:off x="5715000" y="2514600"/>
            <a:ext cx="310896" cy="310896"/>
          </a:xfrm>
          <a:prstGeom prst="rect">
            <a:avLst/>
          </a:prstGeom>
        </p:spPr>
      </p:pic>
      <p:sp>
        <p:nvSpPr>
          <p:cNvPr id="11" name="Text 6"/>
          <p:cNvSpPr/>
          <p:nvPr/>
        </p:nvSpPr>
        <p:spPr>
          <a:xfrm>
            <a:off x="6172200" y="2496312"/>
            <a:ext cx="2560320" cy="621792"/>
          </a:xfrm>
          <a:prstGeom prst="rect">
            <a:avLst/>
          </a:prstGeom>
          <a:noFill/>
          <a:ln/>
        </p:spPr>
        <p:txBody>
          <a:bodyPr wrap="square" lIns="0" tIns="0" rIns="0" bIns="0" rtlCol="0" anchor="ctr"/>
          <a:lstStyle/>
          <a:p>
            <a:pPr indent="0" marL="0">
              <a:buNone/>
            </a:pPr>
            <a:r>
              <a:rPr lang="en-US" sz="1050" dirty="0">
                <a:solidFill>
                  <a:srgbClr val="F2F8FD"/>
                </a:solidFill>
                <a:latin typeface="Arial" pitchFamily="34" charset="0"/>
                <a:ea typeface="Arial" pitchFamily="34" charset="-122"/>
                <a:cs typeface="Arial" pitchFamily="34" charset="-120"/>
              </a:rPr>
              <a:t>Detects crashes via G-force — automatic SOS</a:t>
            </a:r>
            <a:endParaRPr lang="en-US" sz="1050" dirty="0"/>
          </a:p>
        </p:txBody>
      </p:sp>
      <p:pic>
        <p:nvPicPr>
          <p:cNvPr id="12" name="Image 2" descr="preencoded.png">    </p:cNvPr>
          <p:cNvPicPr>
            <a:picLocks noChangeAspect="1"/>
          </p:cNvPicPr>
          <p:nvPr/>
        </p:nvPicPr>
        <p:blipFill>
          <a:blip r:embed="rId3"/>
          <a:stretch>
            <a:fillRect/>
          </a:stretch>
        </p:blipFill>
        <p:spPr>
          <a:xfrm>
            <a:off x="5715000" y="3227832"/>
            <a:ext cx="310896" cy="310896"/>
          </a:xfrm>
          <a:prstGeom prst="rect">
            <a:avLst/>
          </a:prstGeom>
        </p:spPr>
      </p:pic>
      <p:sp>
        <p:nvSpPr>
          <p:cNvPr id="13" name="Text 7"/>
          <p:cNvSpPr/>
          <p:nvPr/>
        </p:nvSpPr>
        <p:spPr>
          <a:xfrm>
            <a:off x="6172200" y="3209544"/>
            <a:ext cx="2560320" cy="621792"/>
          </a:xfrm>
          <a:prstGeom prst="rect">
            <a:avLst/>
          </a:prstGeom>
          <a:noFill/>
          <a:ln/>
        </p:spPr>
        <p:txBody>
          <a:bodyPr wrap="square" lIns="0" tIns="0" rIns="0" bIns="0" rtlCol="0" anchor="ctr"/>
          <a:lstStyle/>
          <a:p>
            <a:pPr indent="0" marL="0">
              <a:buNone/>
            </a:pPr>
            <a:r>
              <a:rPr lang="en-US" sz="1050" dirty="0">
                <a:solidFill>
                  <a:srgbClr val="F2F8FD"/>
                </a:solidFill>
                <a:latin typeface="Arial" pitchFamily="34" charset="0"/>
                <a:ea typeface="Arial" pitchFamily="34" charset="-122"/>
                <a:cs typeface="Arial" pitchFamily="34" charset="-120"/>
              </a:rPr>
              <a:t>Receives remote ECU speed-lock commands</a:t>
            </a:r>
            <a:endParaRPr lang="en-US" sz="1050" dirty="0"/>
          </a:p>
        </p:txBody>
      </p:sp>
      <p:pic>
        <p:nvPicPr>
          <p:cNvPr id="14" name="Image 3" descr="preencoded.png">    </p:cNvPr>
          <p:cNvPicPr>
            <a:picLocks noChangeAspect="1"/>
          </p:cNvPicPr>
          <p:nvPr/>
        </p:nvPicPr>
        <p:blipFill>
          <a:blip r:embed="rId4"/>
          <a:stretch>
            <a:fillRect/>
          </a:stretch>
        </p:blipFill>
        <p:spPr>
          <a:xfrm>
            <a:off x="5715000" y="3941064"/>
            <a:ext cx="310896" cy="310896"/>
          </a:xfrm>
          <a:prstGeom prst="rect">
            <a:avLst/>
          </a:prstGeom>
        </p:spPr>
      </p:pic>
      <p:sp>
        <p:nvSpPr>
          <p:cNvPr id="15" name="Text 8"/>
          <p:cNvSpPr/>
          <p:nvPr/>
        </p:nvSpPr>
        <p:spPr>
          <a:xfrm>
            <a:off x="6172200" y="3922776"/>
            <a:ext cx="2560320" cy="621792"/>
          </a:xfrm>
          <a:prstGeom prst="rect">
            <a:avLst/>
          </a:prstGeom>
          <a:noFill/>
          <a:ln/>
        </p:spPr>
        <p:txBody>
          <a:bodyPr wrap="square" lIns="0" tIns="0" rIns="0" bIns="0" rtlCol="0" anchor="ctr"/>
          <a:lstStyle/>
          <a:p>
            <a:pPr indent="0" marL="0">
              <a:buNone/>
            </a:pPr>
            <a:r>
              <a:rPr lang="en-US" sz="1050" dirty="0">
                <a:solidFill>
                  <a:srgbClr val="F2F8FD"/>
                </a:solidFill>
                <a:latin typeface="Arial" pitchFamily="34" charset="0"/>
                <a:ea typeface="Arial" pitchFamily="34" charset="-122"/>
                <a:cs typeface="Arial" pitchFamily="34" charset="-120"/>
              </a:rPr>
              <a:t>GSM fallback planned for zero-signal zones</a:t>
            </a:r>
            <a:endParaRPr lang="en-US" sz="1050" dirty="0"/>
          </a:p>
        </p:txBody>
      </p:sp>
      <p:sp>
        <p:nvSpPr>
          <p:cNvPr id="16" name="Text 9"/>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09 · LIVE DEMONSTRATIONS</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Six Working Demos — All Running Today</a:t>
            </a:r>
            <a:endParaRPr lang="en-US" sz="3000" dirty="0"/>
          </a:p>
        </p:txBody>
      </p:sp>
      <p:sp>
        <p:nvSpPr>
          <p:cNvPr id="4" name="Shape 2"/>
          <p:cNvSpPr/>
          <p:nvPr/>
        </p:nvSpPr>
        <p:spPr>
          <a:xfrm>
            <a:off x="502920" y="137160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685800" y="1536192"/>
            <a:ext cx="310896" cy="310896"/>
          </a:xfrm>
          <a:prstGeom prst="rect">
            <a:avLst/>
          </a:prstGeom>
        </p:spPr>
      </p:pic>
      <p:sp>
        <p:nvSpPr>
          <p:cNvPr id="6" name="Text 3"/>
          <p:cNvSpPr/>
          <p:nvPr/>
        </p:nvSpPr>
        <p:spPr>
          <a:xfrm>
            <a:off x="1106424" y="149961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LIVE DASHBOARD</a:t>
            </a:r>
            <a:endParaRPr lang="en-US" sz="1050" dirty="0"/>
          </a:p>
        </p:txBody>
      </p:sp>
      <p:sp>
        <p:nvSpPr>
          <p:cNvPr id="7" name="Text 4"/>
          <p:cNvSpPr/>
          <p:nvPr/>
        </p:nvSpPr>
        <p:spPr>
          <a:xfrm>
            <a:off x="685800" y="192024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Leaflet map · 100 moving vehicles · 8 danger zones · Hindi voice alerts</a:t>
            </a:r>
            <a:endParaRPr lang="en-US" sz="880" dirty="0"/>
          </a:p>
        </p:txBody>
      </p:sp>
      <p:sp>
        <p:nvSpPr>
          <p:cNvPr id="8" name="Text 5"/>
          <p:cNvSpPr/>
          <p:nvPr/>
        </p:nvSpPr>
        <p:spPr>
          <a:xfrm>
            <a:off x="685800" y="256032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/dashboard.html</a:t>
            </a:r>
            <a:endParaRPr lang="en-US" sz="750" dirty="0"/>
          </a:p>
        </p:txBody>
      </p:sp>
      <p:sp>
        <p:nvSpPr>
          <p:cNvPr id="9" name="Shape 6"/>
          <p:cNvSpPr/>
          <p:nvPr/>
        </p:nvSpPr>
        <p:spPr>
          <a:xfrm>
            <a:off x="3273552" y="137160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0" name="Image 1" descr="preencoded.png">    </p:cNvPr>
          <p:cNvPicPr>
            <a:picLocks noChangeAspect="1"/>
          </p:cNvPicPr>
          <p:nvPr/>
        </p:nvPicPr>
        <p:blipFill>
          <a:blip r:embed="rId2"/>
          <a:stretch>
            <a:fillRect/>
          </a:stretch>
        </p:blipFill>
        <p:spPr>
          <a:xfrm>
            <a:off x="3456432" y="1536192"/>
            <a:ext cx="310896" cy="310896"/>
          </a:xfrm>
          <a:prstGeom prst="rect">
            <a:avLst/>
          </a:prstGeom>
        </p:spPr>
      </p:pic>
      <p:sp>
        <p:nvSpPr>
          <p:cNvPr id="11" name="Text 7"/>
          <p:cNvSpPr/>
          <p:nvPr/>
        </p:nvSpPr>
        <p:spPr>
          <a:xfrm>
            <a:off x="3877056" y="149961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17-PHASE SIMULATION</a:t>
            </a:r>
            <a:endParaRPr lang="en-US" sz="1050" dirty="0"/>
          </a:p>
        </p:txBody>
      </p:sp>
      <p:sp>
        <p:nvSpPr>
          <p:cNvPr id="12" name="Text 8"/>
          <p:cNvSpPr/>
          <p:nvPr/>
        </p:nvSpPr>
        <p:spPr>
          <a:xfrm>
            <a:off x="3456432" y="192024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Full incident lifecycle — fog, ECU lock, cascade, corridor, ambulance</a:t>
            </a:r>
            <a:endParaRPr lang="en-US" sz="880" dirty="0"/>
          </a:p>
        </p:txBody>
      </p:sp>
      <p:sp>
        <p:nvSpPr>
          <p:cNvPr id="13" name="Text 9"/>
          <p:cNvSpPr/>
          <p:nvPr/>
        </p:nvSpPr>
        <p:spPr>
          <a:xfrm>
            <a:off x="3456432" y="256032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/simulation.html</a:t>
            </a:r>
            <a:endParaRPr lang="en-US" sz="750" dirty="0"/>
          </a:p>
        </p:txBody>
      </p:sp>
      <p:sp>
        <p:nvSpPr>
          <p:cNvPr id="14" name="Shape 10"/>
          <p:cNvSpPr/>
          <p:nvPr/>
        </p:nvSpPr>
        <p:spPr>
          <a:xfrm>
            <a:off x="6044184" y="137160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15" name="Image 2" descr="preencoded.png">    </p:cNvPr>
          <p:cNvPicPr>
            <a:picLocks noChangeAspect="1"/>
          </p:cNvPicPr>
          <p:nvPr/>
        </p:nvPicPr>
        <p:blipFill>
          <a:blip r:embed="rId3"/>
          <a:stretch>
            <a:fillRect/>
          </a:stretch>
        </p:blipFill>
        <p:spPr>
          <a:xfrm>
            <a:off x="6227064" y="1536192"/>
            <a:ext cx="310896" cy="310896"/>
          </a:xfrm>
          <a:prstGeom prst="rect">
            <a:avLst/>
          </a:prstGeom>
        </p:spPr>
      </p:pic>
      <p:sp>
        <p:nvSpPr>
          <p:cNvPr id="16" name="Text 11"/>
          <p:cNvSpPr/>
          <p:nvPr/>
        </p:nvSpPr>
        <p:spPr>
          <a:xfrm>
            <a:off x="6647688" y="149961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4D HD 3D SIMULATION</a:t>
            </a:r>
            <a:endParaRPr lang="en-US" sz="1050" dirty="0"/>
          </a:p>
        </p:txBody>
      </p:sp>
      <p:sp>
        <p:nvSpPr>
          <p:cNvPr id="17" name="Text 12"/>
          <p:cNvSpPr/>
          <p:nvPr/>
        </p:nvSpPr>
        <p:spPr>
          <a:xfrm>
            <a:off x="6227064" y="192024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Three.js cinematic crash — 9 phases, 7 camera angles, explosion physics</a:t>
            </a:r>
            <a:endParaRPr lang="en-US" sz="880" dirty="0"/>
          </a:p>
        </p:txBody>
      </p:sp>
      <p:sp>
        <p:nvSpPr>
          <p:cNvPr id="18" name="Text 13"/>
          <p:cNvSpPr/>
          <p:nvPr/>
        </p:nvSpPr>
        <p:spPr>
          <a:xfrm>
            <a:off x="6227064" y="256032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/simulation_4d.html</a:t>
            </a:r>
            <a:endParaRPr lang="en-US" sz="750" dirty="0"/>
          </a:p>
        </p:txBody>
      </p:sp>
      <p:sp>
        <p:nvSpPr>
          <p:cNvPr id="19" name="Shape 14"/>
          <p:cNvSpPr/>
          <p:nvPr/>
        </p:nvSpPr>
        <p:spPr>
          <a:xfrm>
            <a:off x="502920" y="301752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20" name="Image 3" descr="preencoded.png">    </p:cNvPr>
          <p:cNvPicPr>
            <a:picLocks noChangeAspect="1"/>
          </p:cNvPicPr>
          <p:nvPr/>
        </p:nvPicPr>
        <p:blipFill>
          <a:blip r:embed="rId4"/>
          <a:stretch>
            <a:fillRect/>
          </a:stretch>
        </p:blipFill>
        <p:spPr>
          <a:xfrm>
            <a:off x="685800" y="3182112"/>
            <a:ext cx="310896" cy="310896"/>
          </a:xfrm>
          <a:prstGeom prst="rect">
            <a:avLst/>
          </a:prstGeom>
        </p:spPr>
      </p:pic>
      <p:sp>
        <p:nvSpPr>
          <p:cNvPr id="21" name="Text 15"/>
          <p:cNvSpPr/>
          <p:nvPr/>
        </p:nvSpPr>
        <p:spPr>
          <a:xfrm>
            <a:off x="1106424" y="314553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DRIVER PWA APP</a:t>
            </a:r>
            <a:endParaRPr lang="en-US" sz="1050" dirty="0"/>
          </a:p>
        </p:txBody>
      </p:sp>
      <p:sp>
        <p:nvSpPr>
          <p:cNvPr id="22" name="Text 16"/>
          <p:cNvSpPr/>
          <p:nvPr/>
        </p:nvSpPr>
        <p:spPr>
          <a:xfrm>
            <a:off x="685800" y="356616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Installable Android app — live speed, AI score, SOS button, GPS</a:t>
            </a:r>
            <a:endParaRPr lang="en-US" sz="880" dirty="0"/>
          </a:p>
        </p:txBody>
      </p:sp>
      <p:sp>
        <p:nvSpPr>
          <p:cNvPr id="23" name="Text 17"/>
          <p:cNvSpPr/>
          <p:nvPr/>
        </p:nvSpPr>
        <p:spPr>
          <a:xfrm>
            <a:off x="685800" y="420624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/driver_app.html</a:t>
            </a:r>
            <a:endParaRPr lang="en-US" sz="750" dirty="0"/>
          </a:p>
        </p:txBody>
      </p:sp>
      <p:sp>
        <p:nvSpPr>
          <p:cNvPr id="24" name="Shape 18"/>
          <p:cNvSpPr/>
          <p:nvPr/>
        </p:nvSpPr>
        <p:spPr>
          <a:xfrm>
            <a:off x="3273552" y="301752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25" name="Image 4" descr="preencoded.png">    </p:cNvPr>
          <p:cNvPicPr>
            <a:picLocks noChangeAspect="1"/>
          </p:cNvPicPr>
          <p:nvPr/>
        </p:nvPicPr>
        <p:blipFill>
          <a:blip r:embed="rId5"/>
          <a:stretch>
            <a:fillRect/>
          </a:stretch>
        </p:blipFill>
        <p:spPr>
          <a:xfrm>
            <a:off x="3456432" y="3182112"/>
            <a:ext cx="310896" cy="310896"/>
          </a:xfrm>
          <a:prstGeom prst="rect">
            <a:avLst/>
          </a:prstGeom>
        </p:spPr>
      </p:pic>
      <p:sp>
        <p:nvSpPr>
          <p:cNvPr id="26" name="Text 19"/>
          <p:cNvSpPr/>
          <p:nvPr/>
        </p:nvSpPr>
        <p:spPr>
          <a:xfrm>
            <a:off x="3877056" y="314553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REAL ROAD AI OVERLAY</a:t>
            </a:r>
            <a:endParaRPr lang="en-US" sz="1050" dirty="0"/>
          </a:p>
        </p:txBody>
      </p:sp>
      <p:sp>
        <p:nvSpPr>
          <p:cNvPr id="27" name="Text 20"/>
          <p:cNvSpPr/>
          <p:nvPr/>
        </p:nvSpPr>
        <p:spPr>
          <a:xfrm>
            <a:off x="3456432" y="356616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AI tracking overlaid on real NH-44 Banihal Pass footage</a:t>
            </a:r>
            <a:endParaRPr lang="en-US" sz="880" dirty="0"/>
          </a:p>
        </p:txBody>
      </p:sp>
      <p:sp>
        <p:nvSpPr>
          <p:cNvPr id="28" name="Text 21"/>
          <p:cNvSpPr/>
          <p:nvPr/>
        </p:nvSpPr>
        <p:spPr>
          <a:xfrm>
            <a:off x="3456432" y="420624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/hillsafe_realroad.html</a:t>
            </a:r>
            <a:endParaRPr lang="en-US" sz="750" dirty="0"/>
          </a:p>
        </p:txBody>
      </p:sp>
      <p:sp>
        <p:nvSpPr>
          <p:cNvPr id="29" name="Shape 22"/>
          <p:cNvSpPr/>
          <p:nvPr/>
        </p:nvSpPr>
        <p:spPr>
          <a:xfrm>
            <a:off x="6044184" y="3017520"/>
            <a:ext cx="2633472" cy="1481328"/>
          </a:xfrm>
          <a:prstGeom prst="roundRect">
            <a:avLst>
              <a:gd name="adj" fmla="val 4938"/>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30" name="Image 5" descr="preencoded.png">    </p:cNvPr>
          <p:cNvPicPr>
            <a:picLocks noChangeAspect="1"/>
          </p:cNvPicPr>
          <p:nvPr/>
        </p:nvPicPr>
        <p:blipFill>
          <a:blip r:embed="rId6"/>
          <a:stretch>
            <a:fillRect/>
          </a:stretch>
        </p:blipFill>
        <p:spPr>
          <a:xfrm>
            <a:off x="6227064" y="3182112"/>
            <a:ext cx="310896" cy="310896"/>
          </a:xfrm>
          <a:prstGeom prst="rect">
            <a:avLst/>
          </a:prstGeom>
        </p:spPr>
      </p:pic>
      <p:sp>
        <p:nvSpPr>
          <p:cNvPr id="31" name="Text 23"/>
          <p:cNvSpPr/>
          <p:nvPr/>
        </p:nvSpPr>
        <p:spPr>
          <a:xfrm>
            <a:off x="6647688" y="3145536"/>
            <a:ext cx="1920240" cy="384048"/>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VIDEO GENERATOR</a:t>
            </a:r>
            <a:endParaRPr lang="en-US" sz="1050" dirty="0"/>
          </a:p>
        </p:txBody>
      </p:sp>
      <p:sp>
        <p:nvSpPr>
          <p:cNvPr id="32" name="Text 24"/>
          <p:cNvSpPr/>
          <p:nvPr/>
        </p:nvSpPr>
        <p:spPr>
          <a:xfrm>
            <a:off x="6227064" y="3566160"/>
            <a:ext cx="2286000" cy="658368"/>
          </a:xfrm>
          <a:prstGeom prst="rect">
            <a:avLst/>
          </a:prstGeom>
          <a:noFill/>
          <a:ln/>
        </p:spPr>
        <p:txBody>
          <a:bodyPr wrap="square" lIns="0" tIns="0" rIns="0" bIns="0" rtlCol="0" anchor="ctr"/>
          <a:lstStyle/>
          <a:p>
            <a:pPr indent="0" marL="0">
              <a:buNone/>
            </a:pPr>
            <a:r>
              <a:rPr lang="en-US" sz="880" dirty="0">
                <a:solidFill>
                  <a:srgbClr val="7E97AD"/>
                </a:solidFill>
                <a:latin typeface="Arial" pitchFamily="34" charset="0"/>
                <a:ea typeface="Arial" pitchFamily="34" charset="-122"/>
                <a:cs typeface="Arial" pitchFamily="34" charset="-120"/>
              </a:rPr>
              <a:t>Simulation records itself to .webm for offline presentations</a:t>
            </a:r>
            <a:endParaRPr lang="en-US" sz="880" dirty="0"/>
          </a:p>
        </p:txBody>
      </p:sp>
      <p:sp>
        <p:nvSpPr>
          <p:cNvPr id="33" name="Text 25"/>
          <p:cNvSpPr/>
          <p:nvPr/>
        </p:nvSpPr>
        <p:spPr>
          <a:xfrm>
            <a:off x="6227064" y="4206240"/>
            <a:ext cx="2286000" cy="219456"/>
          </a:xfrm>
          <a:prstGeom prst="rect">
            <a:avLst/>
          </a:prstGeom>
          <a:noFill/>
          <a:ln/>
        </p:spPr>
        <p:txBody>
          <a:bodyPr wrap="square" lIns="0" tIns="0" rIns="0" bIns="0" rtlCol="0" anchor="ctr"/>
          <a:lstStyle/>
          <a:p>
            <a:pPr indent="0" marL="0">
              <a:buNone/>
            </a:pPr>
            <a:r>
              <a:rPr lang="en-US" sz="750" dirty="0">
                <a:solidFill>
                  <a:srgbClr val="00C8FF"/>
                </a:solidFill>
                <a:latin typeface="Courier New" pitchFamily="34" charset="0"/>
                <a:ea typeface="Courier New" pitchFamily="34" charset="-122"/>
                <a:cs typeface="Courier New" pitchFamily="34" charset="-120"/>
              </a:rPr>
              <a:t>/video_generator.html</a:t>
            </a:r>
            <a:endParaRPr lang="en-US" sz="750" dirty="0"/>
          </a:p>
        </p:txBody>
      </p:sp>
      <p:sp>
        <p:nvSpPr>
          <p:cNvPr id="34" name="Text 26"/>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09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10 · MEASURED IMPACT</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34 Minutes → 11 Minutes</a:t>
            </a:r>
            <a:endParaRPr lang="en-US" sz="3000" dirty="0"/>
          </a:p>
        </p:txBody>
      </p:sp>
      <p:graphicFrame>
        <p:nvGraphicFramePr>
          <p:cNvPr id="4" name="Chart 0" descr=""/>
          <p:cNvGraphicFramePr/>
          <p:nvPr/>
        </p:nvGraphicFramePr>
        <p:xfrm>
          <a:off x="502920" y="1417320"/>
          <a:ext cx="38404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09160" y="1417320"/>
          <a:ext cx="3931920" cy="914400"/>
        </p:xfrm>
        <a:graphic>
          <a:graphicData uri="http://schemas.openxmlformats.org/drawingml/2006/table">
            <a:tbl>
              <a:tblPr/>
              <a:tblGrid>
                <a:gridCol w="1371600"/>
                <a:gridCol w="1188720"/>
                <a:gridCol w="1371600"/>
              </a:tblGrid>
              <a:tr h="457200">
                <a:tc>
                  <a:txBody>
                    <a:bodyPr/>
                    <a:lstStyle/>
                    <a:p>
                      <a:pPr indent="0" marL="0">
                        <a:buNone/>
                      </a:pPr>
                      <a:r>
                        <a:rPr lang="en-US" sz="900" b="1" dirty="0">
                          <a:solidFill>
                            <a:srgbClr val="00C8FF"/>
                          </a:solidFill>
                          <a:latin typeface="Courier New" pitchFamily="34" charset="0"/>
                          <a:ea typeface="Courier New" pitchFamily="34" charset="-122"/>
                          <a:cs typeface="Courier New" pitchFamily="34" charset="-120"/>
                        </a:rPr>
                        <a:t>CAPABILITY</a:t>
                      </a:r>
                      <a:endParaRPr lang="en-US" sz="90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c>
                  <a:txBody>
                    <a:bodyPr/>
                    <a:lstStyle/>
                    <a:p>
                      <a:pPr indent="0" marL="0">
                        <a:buNone/>
                      </a:pPr>
                      <a:r>
                        <a:rPr lang="en-US" sz="900" b="1" dirty="0">
                          <a:solidFill>
                            <a:srgbClr val="00C8FF"/>
                          </a:solidFill>
                          <a:latin typeface="Courier New" pitchFamily="34" charset="0"/>
                          <a:ea typeface="Courier New" pitchFamily="34" charset="-122"/>
                          <a:cs typeface="Courier New" pitchFamily="34" charset="-120"/>
                        </a:rPr>
                        <a:t>BEFORE</a:t>
                      </a:r>
                      <a:endParaRPr lang="en-US" sz="90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c>
                  <a:txBody>
                    <a:bodyPr/>
                    <a:lstStyle/>
                    <a:p>
                      <a:pPr indent="0" marL="0">
                        <a:buNone/>
                      </a:pPr>
                      <a:r>
                        <a:rPr lang="en-US" sz="900" b="1" dirty="0">
                          <a:solidFill>
                            <a:srgbClr val="00C8FF"/>
                          </a:solidFill>
                          <a:latin typeface="Courier New" pitchFamily="34" charset="0"/>
                          <a:ea typeface="Courier New" pitchFamily="34" charset="-122"/>
                          <a:cs typeface="Courier New" pitchFamily="34" charset="-120"/>
                        </a:rPr>
                        <a:t>WITH HILLSAFE AI</a:t>
                      </a:r>
                      <a:endParaRPr lang="en-US" sz="900" dirty="0">
                        <a:latin typeface="Courier New" charset="0"/>
                        <a:ea typeface="Courier New" charset="0"/>
                        <a:cs typeface="Courier New"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6253F"/>
                    </a:solidFill>
                  </a:tcPr>
                </a:tc>
              </a:tr>
              <a:tr h="457200">
                <a:tc>
                  <a:txBody>
                    <a:bodyPr/>
                    <a:lstStyle/>
                    <a:p>
                      <a:pPr indent="0" marL="0">
                        <a:buNone/>
                      </a:pPr>
                      <a:r>
                        <a:rPr lang="en-US" sz="950" dirty="0">
                          <a:solidFill>
                            <a:srgbClr val="F2F8FD"/>
                          </a:solidFill>
                          <a:latin typeface="Arial" pitchFamily="34" charset="0"/>
                          <a:ea typeface="Arial" pitchFamily="34" charset="-122"/>
                          <a:cs typeface="Arial" pitchFamily="34" charset="-120"/>
                        </a:rPr>
                        <a:t>Accident detection</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dirty="0">
                          <a:solidFill>
                            <a:srgbClr val="7E97AD"/>
                          </a:solidFill>
                          <a:latin typeface="Arial" pitchFamily="34" charset="0"/>
                          <a:ea typeface="Arial" pitchFamily="34" charset="-122"/>
                          <a:cs typeface="Arial" pitchFamily="34" charset="-120"/>
                        </a:rPr>
                        <a:t>Someone calls 112</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b="1" dirty="0">
                          <a:solidFill>
                            <a:srgbClr val="00E676"/>
                          </a:solidFill>
                          <a:latin typeface="Arial" pitchFamily="34" charset="0"/>
                          <a:ea typeface="Arial" pitchFamily="34" charset="-122"/>
                          <a:cs typeface="Arial" pitchFamily="34" charset="-120"/>
                        </a:rPr>
                        <a:t>AI detects in &lt; 2 s</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r h="457200">
                <a:tc>
                  <a:txBody>
                    <a:bodyPr/>
                    <a:lstStyle/>
                    <a:p>
                      <a:pPr indent="0" marL="0">
                        <a:buNone/>
                      </a:pPr>
                      <a:r>
                        <a:rPr lang="en-US" sz="950" dirty="0">
                          <a:solidFill>
                            <a:srgbClr val="F2F8FD"/>
                          </a:solidFill>
                          <a:latin typeface="Arial" pitchFamily="34" charset="0"/>
                          <a:ea typeface="Arial" pitchFamily="34" charset="-122"/>
                          <a:cs typeface="Arial" pitchFamily="34" charset="-120"/>
                        </a:rPr>
                        <a:t>Nearby vehicle alert</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950" dirty="0">
                          <a:solidFill>
                            <a:srgbClr val="7E97AD"/>
                          </a:solidFill>
                          <a:latin typeface="Arial" pitchFamily="34" charset="0"/>
                          <a:ea typeface="Arial" pitchFamily="34" charset="-122"/>
                          <a:cs typeface="Arial" pitchFamily="34" charset="-120"/>
                        </a:rPr>
                        <a:t>Not possible</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950" b="1" dirty="0">
                          <a:solidFill>
                            <a:srgbClr val="00E676"/>
                          </a:solidFill>
                          <a:latin typeface="Arial" pitchFamily="34" charset="0"/>
                          <a:ea typeface="Arial" pitchFamily="34" charset="-122"/>
                          <a:cs typeface="Arial" pitchFamily="34" charset="-120"/>
                        </a:rPr>
                        <a:t>&lt; 0.5 seconds</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r>
              <a:tr h="457200">
                <a:tc>
                  <a:txBody>
                    <a:bodyPr/>
                    <a:lstStyle/>
                    <a:p>
                      <a:pPr indent="0" marL="0">
                        <a:buNone/>
                      </a:pPr>
                      <a:r>
                        <a:rPr lang="en-US" sz="950" dirty="0">
                          <a:solidFill>
                            <a:srgbClr val="F2F8FD"/>
                          </a:solidFill>
                          <a:latin typeface="Arial" pitchFamily="34" charset="0"/>
                          <a:ea typeface="Arial" pitchFamily="34" charset="-122"/>
                          <a:cs typeface="Arial" pitchFamily="34" charset="-120"/>
                        </a:rPr>
                        <a:t>Route clearance</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dirty="0">
                          <a:solidFill>
                            <a:srgbClr val="7E97AD"/>
                          </a:solidFill>
                          <a:latin typeface="Arial" pitchFamily="34" charset="0"/>
                          <a:ea typeface="Arial" pitchFamily="34" charset="-122"/>
                          <a:cs typeface="Arial" pitchFamily="34" charset="-120"/>
                        </a:rPr>
                        <a:t>Manual, 20+ min</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b="1" dirty="0">
                          <a:solidFill>
                            <a:srgbClr val="00E676"/>
                          </a:solidFill>
                          <a:latin typeface="Arial" pitchFamily="34" charset="0"/>
                          <a:ea typeface="Arial" pitchFamily="34" charset="-122"/>
                          <a:cs typeface="Arial" pitchFamily="34" charset="-120"/>
                        </a:rPr>
                        <a:t>Automated, &lt; 2 min</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r h="457200">
                <a:tc>
                  <a:txBody>
                    <a:bodyPr/>
                    <a:lstStyle/>
                    <a:p>
                      <a:pPr indent="0" marL="0">
                        <a:buNone/>
                      </a:pPr>
                      <a:r>
                        <a:rPr lang="en-US" sz="950" dirty="0">
                          <a:solidFill>
                            <a:srgbClr val="F2F8FD"/>
                          </a:solidFill>
                          <a:latin typeface="Arial" pitchFamily="34" charset="0"/>
                          <a:ea typeface="Arial" pitchFamily="34" charset="-122"/>
                          <a:cs typeface="Arial" pitchFamily="34" charset="-120"/>
                        </a:rPr>
                        <a:t>Hospital pre-alert</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950" dirty="0">
                          <a:solidFill>
                            <a:srgbClr val="7E97AD"/>
                          </a:solidFill>
                          <a:latin typeface="Arial" pitchFamily="34" charset="0"/>
                          <a:ea typeface="Arial" pitchFamily="34" charset="-122"/>
                          <a:cs typeface="Arial" pitchFamily="34" charset="-120"/>
                        </a:rPr>
                        <a:t>Not done</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c>
                  <a:txBody>
                    <a:bodyPr/>
                    <a:lstStyle/>
                    <a:p>
                      <a:pPr indent="0" marL="0">
                        <a:buNone/>
                      </a:pPr>
                      <a:r>
                        <a:rPr lang="en-US" sz="950" b="1" dirty="0">
                          <a:solidFill>
                            <a:srgbClr val="00E676"/>
                          </a:solidFill>
                          <a:latin typeface="Arial" pitchFamily="34" charset="0"/>
                          <a:ea typeface="Arial" pitchFamily="34" charset="-122"/>
                          <a:cs typeface="Arial" pitchFamily="34" charset="-120"/>
                        </a:rPr>
                        <a:t>Blood type + ETA sent</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0E1A2E"/>
                    </a:solidFill>
                  </a:tcPr>
                </a:tc>
              </a:tr>
              <a:tr h="457200">
                <a:tc>
                  <a:txBody>
                    <a:bodyPr/>
                    <a:lstStyle/>
                    <a:p>
                      <a:pPr indent="0" marL="0">
                        <a:buNone/>
                      </a:pPr>
                      <a:r>
                        <a:rPr lang="en-US" sz="950" dirty="0">
                          <a:solidFill>
                            <a:srgbClr val="F2F8FD"/>
                          </a:solidFill>
                          <a:latin typeface="Arial" pitchFamily="34" charset="0"/>
                          <a:ea typeface="Arial" pitchFamily="34" charset="-122"/>
                          <a:cs typeface="Arial" pitchFamily="34" charset="-120"/>
                        </a:rPr>
                        <a:t>Danger prediction</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dirty="0">
                          <a:solidFill>
                            <a:srgbClr val="7E97AD"/>
                          </a:solidFill>
                          <a:latin typeface="Arial" pitchFamily="34" charset="0"/>
                          <a:ea typeface="Arial" pitchFamily="34" charset="-122"/>
                          <a:cs typeface="Arial" pitchFamily="34" charset="-120"/>
                        </a:rPr>
                        <a:t>None</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c>
                  <a:txBody>
                    <a:bodyPr/>
                    <a:lstStyle/>
                    <a:p>
                      <a:pPr indent="0" marL="0">
                        <a:buNone/>
                      </a:pPr>
                      <a:r>
                        <a:rPr lang="en-US" sz="950" b="1" dirty="0">
                          <a:solidFill>
                            <a:srgbClr val="00E676"/>
                          </a:solidFill>
                          <a:latin typeface="Arial" pitchFamily="34" charset="0"/>
                          <a:ea typeface="Arial" pitchFamily="34" charset="-122"/>
                          <a:cs typeface="Arial" pitchFamily="34" charset="-120"/>
                        </a:rPr>
                        <a:t>87% ML accuracy</a:t>
                      </a:r>
                      <a:endParaRPr lang="en-US" sz="950" dirty="0">
                        <a:latin typeface="Arial" charset="0"/>
                        <a:ea typeface="Arial" charset="0"/>
                        <a:cs typeface="Arial" charset="0"/>
                      </a:endParaRPr>
                    </a:p>
                  </a:txBody>
                  <a:tcPr marL="91440" marR="91440" marT="45720" marB="45720" anchor="ctr">
                    <a:lnL w="6350" cap="flat" cmpd="sng" algn="ctr">
                      <a:solidFill>
                        <a:srgbClr val="22405F"/>
                      </a:solidFill>
                      <a:prstDash val="solid"/>
                      <a:round/>
                      <a:headEnd type="none" w="med" len="med"/>
                      <a:tailEnd type="none" w="med" len="med"/>
                    </a:lnL>
                    <a:lnR w="6350" cap="flat" cmpd="sng" algn="ctr">
                      <a:solidFill>
                        <a:srgbClr val="22405F"/>
                      </a:solidFill>
                      <a:prstDash val="solid"/>
                      <a:round/>
                      <a:headEnd type="none" w="med" len="med"/>
                      <a:tailEnd type="none" w="med" len="med"/>
                    </a:lnR>
                    <a:lnT w="6350" cap="flat" cmpd="sng" algn="ctr">
                      <a:solidFill>
                        <a:srgbClr val="22405F"/>
                      </a:solidFill>
                      <a:prstDash val="solid"/>
                      <a:round/>
                      <a:headEnd type="none" w="med" len="med"/>
                      <a:tailEnd type="none" w="med" len="med"/>
                    </a:lnT>
                    <a:lnB w="6350" cap="flat" cmpd="sng" algn="ctr">
                      <a:solidFill>
                        <a:srgbClr val="22405F"/>
                      </a:solidFill>
                      <a:prstDash val="solid"/>
                      <a:round/>
                      <a:headEnd type="none" w="med" len="med"/>
                      <a:tailEnd type="none" w="med" len="med"/>
                    </a:lnB>
                    <a:solidFill>
                      <a:srgbClr val="111D33"/>
                    </a:solidFill>
                  </a:tcPr>
                </a:tc>
              </a:tr>
            </a:tbl>
          </a:graphicData>
        </a:graphic>
      </p:graphicFrame>
      <p:sp>
        <p:nvSpPr>
          <p:cNvPr id="6" name="Text 2"/>
          <p:cNvSpPr/>
          <p:nvPr/>
        </p:nvSpPr>
        <p:spPr>
          <a:xfrm>
            <a:off x="502920" y="4572000"/>
            <a:ext cx="8138160" cy="320040"/>
          </a:xfrm>
          <a:prstGeom prst="rect">
            <a:avLst/>
          </a:prstGeom>
          <a:noFill/>
          <a:ln/>
        </p:spPr>
        <p:txBody>
          <a:bodyPr wrap="square" lIns="0" tIns="0" rIns="0" bIns="0" rtlCol="0" anchor="ctr"/>
          <a:lstStyle/>
          <a:p>
            <a:pPr algn="ctr" indent="0" marL="0">
              <a:buNone/>
            </a:pPr>
            <a:r>
              <a:rPr lang="en-US" sz="1200" i="1" dirty="0">
                <a:solidFill>
                  <a:srgbClr val="00E676"/>
                </a:solidFill>
                <a:latin typeface="Arial" pitchFamily="34" charset="0"/>
                <a:ea typeface="Arial" pitchFamily="34" charset="-122"/>
                <a:cs typeface="Arial" pitchFamily="34" charset="-120"/>
              </a:rPr>
              <a:t>23 minutes saved per incident — in trauma medicine, that is the difference between life and death.</a:t>
            </a:r>
            <a:endParaRPr lang="en-US" sz="1200" dirty="0"/>
          </a:p>
        </p:txBody>
      </p:sp>
      <p:sp>
        <p:nvSpPr>
          <p:cNvPr id="7" name="Text 3"/>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11 · ENGINEERING QUALITY</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Production-Grade Stack &amp; Security</a:t>
            </a:r>
            <a:endParaRPr lang="en-US" sz="3000" dirty="0"/>
          </a:p>
        </p:txBody>
      </p:sp>
      <p:sp>
        <p:nvSpPr>
          <p:cNvPr id="4" name="Shape 2"/>
          <p:cNvSpPr/>
          <p:nvPr/>
        </p:nvSpPr>
        <p:spPr>
          <a:xfrm>
            <a:off x="502920" y="1371600"/>
            <a:ext cx="2011680" cy="640080"/>
          </a:xfrm>
          <a:prstGeom prst="roundRect">
            <a:avLst>
              <a:gd name="adj" fmla="val 8571"/>
            </a:avLst>
          </a:prstGeom>
          <a:solidFill>
            <a:srgbClr val="111D33"/>
          </a:solidFill>
          <a:ln w="12700">
            <a:solidFill>
              <a:srgbClr val="22405F"/>
            </a:solidFill>
            <a:prstDash val="solid"/>
          </a:ln>
        </p:spPr>
      </p:sp>
      <p:sp>
        <p:nvSpPr>
          <p:cNvPr id="5" name="Text 3"/>
          <p:cNvSpPr/>
          <p:nvPr/>
        </p:nvSpPr>
        <p:spPr>
          <a:xfrm>
            <a:off x="630936" y="1444752"/>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Node.js + Express</a:t>
            </a:r>
            <a:endParaRPr lang="en-US" sz="1050" dirty="0"/>
          </a:p>
        </p:txBody>
      </p:sp>
      <p:sp>
        <p:nvSpPr>
          <p:cNvPr id="6" name="Text 4"/>
          <p:cNvSpPr/>
          <p:nvPr/>
        </p:nvSpPr>
        <p:spPr>
          <a:xfrm>
            <a:off x="630936" y="1709928"/>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Backend engine</a:t>
            </a:r>
            <a:endParaRPr lang="en-US" sz="850" dirty="0"/>
          </a:p>
        </p:txBody>
      </p:sp>
      <p:sp>
        <p:nvSpPr>
          <p:cNvPr id="7" name="Shape 5"/>
          <p:cNvSpPr/>
          <p:nvPr/>
        </p:nvSpPr>
        <p:spPr>
          <a:xfrm>
            <a:off x="2624328" y="1371600"/>
            <a:ext cx="2011680" cy="640080"/>
          </a:xfrm>
          <a:prstGeom prst="roundRect">
            <a:avLst>
              <a:gd name="adj" fmla="val 8571"/>
            </a:avLst>
          </a:prstGeom>
          <a:solidFill>
            <a:srgbClr val="111D33"/>
          </a:solidFill>
          <a:ln w="12700">
            <a:solidFill>
              <a:srgbClr val="22405F"/>
            </a:solidFill>
            <a:prstDash val="solid"/>
          </a:ln>
        </p:spPr>
      </p:sp>
      <p:sp>
        <p:nvSpPr>
          <p:cNvPr id="8" name="Text 6"/>
          <p:cNvSpPr/>
          <p:nvPr/>
        </p:nvSpPr>
        <p:spPr>
          <a:xfrm>
            <a:off x="2752344" y="1444752"/>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Socket.io</a:t>
            </a:r>
            <a:endParaRPr lang="en-US" sz="1050" dirty="0"/>
          </a:p>
        </p:txBody>
      </p:sp>
      <p:sp>
        <p:nvSpPr>
          <p:cNvPr id="9" name="Text 7"/>
          <p:cNvSpPr/>
          <p:nvPr/>
        </p:nvSpPr>
        <p:spPr>
          <a:xfrm>
            <a:off x="2752344" y="1709928"/>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Real-time events</a:t>
            </a:r>
            <a:endParaRPr lang="en-US" sz="850" dirty="0"/>
          </a:p>
        </p:txBody>
      </p:sp>
      <p:sp>
        <p:nvSpPr>
          <p:cNvPr id="10" name="Shape 8"/>
          <p:cNvSpPr/>
          <p:nvPr/>
        </p:nvSpPr>
        <p:spPr>
          <a:xfrm>
            <a:off x="502920" y="2121408"/>
            <a:ext cx="2011680" cy="640080"/>
          </a:xfrm>
          <a:prstGeom prst="roundRect">
            <a:avLst>
              <a:gd name="adj" fmla="val 8571"/>
            </a:avLst>
          </a:prstGeom>
          <a:solidFill>
            <a:srgbClr val="111D33"/>
          </a:solidFill>
          <a:ln w="12700">
            <a:solidFill>
              <a:srgbClr val="22405F"/>
            </a:solidFill>
            <a:prstDash val="solid"/>
          </a:ln>
        </p:spPr>
      </p:sp>
      <p:sp>
        <p:nvSpPr>
          <p:cNvPr id="11" name="Text 9"/>
          <p:cNvSpPr/>
          <p:nvPr/>
        </p:nvSpPr>
        <p:spPr>
          <a:xfrm>
            <a:off x="630936" y="2194560"/>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Python + XGBoost</a:t>
            </a:r>
            <a:endParaRPr lang="en-US" sz="1050" dirty="0"/>
          </a:p>
        </p:txBody>
      </p:sp>
      <p:sp>
        <p:nvSpPr>
          <p:cNvPr id="12" name="Text 10"/>
          <p:cNvSpPr/>
          <p:nvPr/>
        </p:nvSpPr>
        <p:spPr>
          <a:xfrm>
            <a:off x="630936" y="2459736"/>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ML prediction</a:t>
            </a:r>
            <a:endParaRPr lang="en-US" sz="850" dirty="0"/>
          </a:p>
        </p:txBody>
      </p:sp>
      <p:sp>
        <p:nvSpPr>
          <p:cNvPr id="13" name="Shape 11"/>
          <p:cNvSpPr/>
          <p:nvPr/>
        </p:nvSpPr>
        <p:spPr>
          <a:xfrm>
            <a:off x="2624328" y="2121408"/>
            <a:ext cx="2011680" cy="640080"/>
          </a:xfrm>
          <a:prstGeom prst="roundRect">
            <a:avLst>
              <a:gd name="adj" fmla="val 8571"/>
            </a:avLst>
          </a:prstGeom>
          <a:solidFill>
            <a:srgbClr val="111D33"/>
          </a:solidFill>
          <a:ln w="12700">
            <a:solidFill>
              <a:srgbClr val="22405F"/>
            </a:solidFill>
            <a:prstDash val="solid"/>
          </a:ln>
        </p:spPr>
      </p:sp>
      <p:sp>
        <p:nvSpPr>
          <p:cNvPr id="14" name="Text 12"/>
          <p:cNvSpPr/>
          <p:nvPr/>
        </p:nvSpPr>
        <p:spPr>
          <a:xfrm>
            <a:off x="2752344" y="2194560"/>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FastAPI</a:t>
            </a:r>
            <a:endParaRPr lang="en-US" sz="1050" dirty="0"/>
          </a:p>
        </p:txBody>
      </p:sp>
      <p:sp>
        <p:nvSpPr>
          <p:cNvPr id="15" name="Text 13"/>
          <p:cNvSpPr/>
          <p:nvPr/>
        </p:nvSpPr>
        <p:spPr>
          <a:xfrm>
            <a:off x="2752344" y="2459736"/>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ML microservice</a:t>
            </a:r>
            <a:endParaRPr lang="en-US" sz="850" dirty="0"/>
          </a:p>
        </p:txBody>
      </p:sp>
      <p:sp>
        <p:nvSpPr>
          <p:cNvPr id="16" name="Shape 14"/>
          <p:cNvSpPr/>
          <p:nvPr/>
        </p:nvSpPr>
        <p:spPr>
          <a:xfrm>
            <a:off x="502920" y="2871216"/>
            <a:ext cx="2011680" cy="640080"/>
          </a:xfrm>
          <a:prstGeom prst="roundRect">
            <a:avLst>
              <a:gd name="adj" fmla="val 8571"/>
            </a:avLst>
          </a:prstGeom>
          <a:solidFill>
            <a:srgbClr val="111D33"/>
          </a:solidFill>
          <a:ln w="12700">
            <a:solidFill>
              <a:srgbClr val="22405F"/>
            </a:solidFill>
            <a:prstDash val="solid"/>
          </a:ln>
        </p:spPr>
      </p:sp>
      <p:sp>
        <p:nvSpPr>
          <p:cNvPr id="17" name="Text 15"/>
          <p:cNvSpPr/>
          <p:nvPr/>
        </p:nvSpPr>
        <p:spPr>
          <a:xfrm>
            <a:off x="630936" y="2944368"/>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MySQL</a:t>
            </a:r>
            <a:endParaRPr lang="en-US" sz="1050" dirty="0"/>
          </a:p>
        </p:txBody>
      </p:sp>
      <p:sp>
        <p:nvSpPr>
          <p:cNvPr id="18" name="Text 16"/>
          <p:cNvSpPr/>
          <p:nvPr/>
        </p:nvSpPr>
        <p:spPr>
          <a:xfrm>
            <a:off x="630936" y="3209544"/>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8-table schema</a:t>
            </a:r>
            <a:endParaRPr lang="en-US" sz="850" dirty="0"/>
          </a:p>
        </p:txBody>
      </p:sp>
      <p:sp>
        <p:nvSpPr>
          <p:cNvPr id="19" name="Shape 17"/>
          <p:cNvSpPr/>
          <p:nvPr/>
        </p:nvSpPr>
        <p:spPr>
          <a:xfrm>
            <a:off x="2624328" y="2871216"/>
            <a:ext cx="2011680" cy="640080"/>
          </a:xfrm>
          <a:prstGeom prst="roundRect">
            <a:avLst>
              <a:gd name="adj" fmla="val 8571"/>
            </a:avLst>
          </a:prstGeom>
          <a:solidFill>
            <a:srgbClr val="111D33"/>
          </a:solidFill>
          <a:ln w="12700">
            <a:solidFill>
              <a:srgbClr val="22405F"/>
            </a:solidFill>
            <a:prstDash val="solid"/>
          </a:ln>
        </p:spPr>
      </p:sp>
      <p:sp>
        <p:nvSpPr>
          <p:cNvPr id="20" name="Text 18"/>
          <p:cNvSpPr/>
          <p:nvPr/>
        </p:nvSpPr>
        <p:spPr>
          <a:xfrm>
            <a:off x="2752344" y="2944368"/>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Leaflet.js</a:t>
            </a:r>
            <a:endParaRPr lang="en-US" sz="1050" dirty="0"/>
          </a:p>
        </p:txBody>
      </p:sp>
      <p:sp>
        <p:nvSpPr>
          <p:cNvPr id="21" name="Text 19"/>
          <p:cNvSpPr/>
          <p:nvPr/>
        </p:nvSpPr>
        <p:spPr>
          <a:xfrm>
            <a:off x="2752344" y="3209544"/>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Live mapping</a:t>
            </a:r>
            <a:endParaRPr lang="en-US" sz="850" dirty="0"/>
          </a:p>
        </p:txBody>
      </p:sp>
      <p:sp>
        <p:nvSpPr>
          <p:cNvPr id="22" name="Shape 20"/>
          <p:cNvSpPr/>
          <p:nvPr/>
        </p:nvSpPr>
        <p:spPr>
          <a:xfrm>
            <a:off x="502920" y="3621024"/>
            <a:ext cx="2011680" cy="640080"/>
          </a:xfrm>
          <a:prstGeom prst="roundRect">
            <a:avLst>
              <a:gd name="adj" fmla="val 8571"/>
            </a:avLst>
          </a:prstGeom>
          <a:solidFill>
            <a:srgbClr val="111D33"/>
          </a:solidFill>
          <a:ln w="12700">
            <a:solidFill>
              <a:srgbClr val="22405F"/>
            </a:solidFill>
            <a:prstDash val="solid"/>
          </a:ln>
        </p:spPr>
      </p:sp>
      <p:sp>
        <p:nvSpPr>
          <p:cNvPr id="23" name="Text 21"/>
          <p:cNvSpPr/>
          <p:nvPr/>
        </p:nvSpPr>
        <p:spPr>
          <a:xfrm>
            <a:off x="630936" y="3694176"/>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Three.js</a:t>
            </a:r>
            <a:endParaRPr lang="en-US" sz="1050" dirty="0"/>
          </a:p>
        </p:txBody>
      </p:sp>
      <p:sp>
        <p:nvSpPr>
          <p:cNvPr id="24" name="Text 22"/>
          <p:cNvSpPr/>
          <p:nvPr/>
        </p:nvSpPr>
        <p:spPr>
          <a:xfrm>
            <a:off x="630936" y="3959352"/>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3D simulation</a:t>
            </a:r>
            <a:endParaRPr lang="en-US" sz="850" dirty="0"/>
          </a:p>
        </p:txBody>
      </p:sp>
      <p:sp>
        <p:nvSpPr>
          <p:cNvPr id="25" name="Shape 23"/>
          <p:cNvSpPr/>
          <p:nvPr/>
        </p:nvSpPr>
        <p:spPr>
          <a:xfrm>
            <a:off x="2624328" y="3621024"/>
            <a:ext cx="2011680" cy="640080"/>
          </a:xfrm>
          <a:prstGeom prst="roundRect">
            <a:avLst>
              <a:gd name="adj" fmla="val 8571"/>
            </a:avLst>
          </a:prstGeom>
          <a:solidFill>
            <a:srgbClr val="111D33"/>
          </a:solidFill>
          <a:ln w="12700">
            <a:solidFill>
              <a:srgbClr val="22405F"/>
            </a:solidFill>
            <a:prstDash val="solid"/>
          </a:ln>
        </p:spPr>
      </p:sp>
      <p:sp>
        <p:nvSpPr>
          <p:cNvPr id="26" name="Text 24"/>
          <p:cNvSpPr/>
          <p:nvPr/>
        </p:nvSpPr>
        <p:spPr>
          <a:xfrm>
            <a:off x="2752344" y="3694176"/>
            <a:ext cx="1783080" cy="274320"/>
          </a:xfrm>
          <a:prstGeom prst="rect">
            <a:avLst/>
          </a:prstGeom>
          <a:noFill/>
          <a:ln/>
        </p:spPr>
        <p:txBody>
          <a:bodyPr wrap="square" lIns="0" tIns="0" rIns="0" bIns="0" rtlCol="0" anchor="ctr"/>
          <a:lstStyle/>
          <a:p>
            <a:pPr indent="0" marL="0">
              <a:buNone/>
            </a:pPr>
            <a:r>
              <a:rPr lang="en-US" sz="1050" b="1" dirty="0">
                <a:solidFill>
                  <a:srgbClr val="F2F8FD"/>
                </a:solidFill>
                <a:latin typeface="Arial" pitchFamily="34" charset="0"/>
                <a:ea typeface="Arial" pitchFamily="34" charset="-122"/>
                <a:cs typeface="Arial" pitchFamily="34" charset="-120"/>
              </a:rPr>
              <a:t>ESP32 / C++</a:t>
            </a:r>
            <a:endParaRPr lang="en-US" sz="1050" dirty="0"/>
          </a:p>
        </p:txBody>
      </p:sp>
      <p:sp>
        <p:nvSpPr>
          <p:cNvPr id="27" name="Text 25"/>
          <p:cNvSpPr/>
          <p:nvPr/>
        </p:nvSpPr>
        <p:spPr>
          <a:xfrm>
            <a:off x="2752344" y="3959352"/>
            <a:ext cx="1783080" cy="237744"/>
          </a:xfrm>
          <a:prstGeom prst="rect">
            <a:avLst/>
          </a:prstGeom>
          <a:noFill/>
          <a:ln/>
        </p:spPr>
        <p:txBody>
          <a:bodyPr wrap="square" lIns="0" tIns="0" rIns="0" bIns="0" rtlCol="0" anchor="ctr"/>
          <a:lstStyle/>
          <a:p>
            <a:pPr indent="0" marL="0">
              <a:buNone/>
            </a:pPr>
            <a:r>
              <a:rPr lang="en-US" sz="850" dirty="0">
                <a:solidFill>
                  <a:srgbClr val="7E97AD"/>
                </a:solidFill>
                <a:latin typeface="Arial" pitchFamily="34" charset="0"/>
                <a:ea typeface="Arial" pitchFamily="34" charset="-122"/>
                <a:cs typeface="Arial" pitchFamily="34" charset="-120"/>
              </a:rPr>
              <a:t>Vehicle hardware</a:t>
            </a:r>
            <a:endParaRPr lang="en-US" sz="850" dirty="0"/>
          </a:p>
        </p:txBody>
      </p:sp>
      <p:pic>
        <p:nvPicPr>
          <p:cNvPr id="28" name="Image 0" descr="preencoded.png">    </p:cNvPr>
          <p:cNvPicPr>
            <a:picLocks noChangeAspect="1"/>
          </p:cNvPicPr>
          <p:nvPr/>
        </p:nvPicPr>
        <p:blipFill>
          <a:blip r:embed="rId1"/>
          <a:stretch>
            <a:fillRect/>
          </a:stretch>
        </p:blipFill>
        <p:spPr>
          <a:xfrm>
            <a:off x="5074920" y="1371600"/>
            <a:ext cx="384048" cy="384048"/>
          </a:xfrm>
          <a:prstGeom prst="rect">
            <a:avLst/>
          </a:prstGeom>
        </p:spPr>
      </p:pic>
      <p:sp>
        <p:nvSpPr>
          <p:cNvPr id="29" name="Text 26"/>
          <p:cNvSpPr/>
          <p:nvPr/>
        </p:nvSpPr>
        <p:spPr>
          <a:xfrm>
            <a:off x="5577840" y="1389888"/>
            <a:ext cx="3017520" cy="365760"/>
          </a:xfrm>
          <a:prstGeom prst="rect">
            <a:avLst/>
          </a:prstGeom>
          <a:noFill/>
          <a:ln/>
        </p:spPr>
        <p:txBody>
          <a:bodyPr wrap="square" lIns="0" tIns="0" rIns="0" bIns="0" rtlCol="0" anchor="ctr"/>
          <a:lstStyle/>
          <a:p>
            <a:pPr indent="0" marL="0">
              <a:buNone/>
            </a:pPr>
            <a:r>
              <a:rPr lang="en-US" sz="1100" spc="200" kern="0" dirty="0">
                <a:solidFill>
                  <a:srgbClr val="00C8FF"/>
                </a:solidFill>
                <a:latin typeface="Courier New" pitchFamily="34" charset="0"/>
                <a:ea typeface="Courier New" pitchFamily="34" charset="-122"/>
                <a:cs typeface="Courier New" pitchFamily="34" charset="-120"/>
              </a:rPr>
              <a:t>SECURITY HARDENING</a:t>
            </a:r>
            <a:endParaRPr lang="en-US" sz="1100" dirty="0"/>
          </a:p>
        </p:txBody>
      </p:sp>
      <p:sp>
        <p:nvSpPr>
          <p:cNvPr id="30" name="Text 27"/>
          <p:cNvSpPr/>
          <p:nvPr/>
        </p:nvSpPr>
        <p:spPr>
          <a:xfrm>
            <a:off x="5120640" y="1920240"/>
            <a:ext cx="3566160" cy="2834640"/>
          </a:xfrm>
          <a:prstGeom prst="rect">
            <a:avLst/>
          </a:prstGeom>
          <a:noFill/>
          <a:ln/>
        </p:spPr>
        <p:txBody>
          <a:bodyPr wrap="square" lIns="0" tIns="0" rIns="0" bIns="0" rtlCol="0" anchor="ctr"/>
          <a:lstStyle/>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XSS prevention — all Socket.io data sanitized (esc / escNum / escInt) before DOM insertion</a:t>
            </a:r>
            <a:endParaRPr lang="en-US" sz="950" dirty="0"/>
          </a:p>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SQL injection blocked — 100% parameterized queries</a:t>
            </a:r>
            <a:endParaRPr lang="en-US" sz="950" dirty="0"/>
          </a:p>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Rate limiting — max 5 simulation requests / min / IP</a:t>
            </a:r>
            <a:endParaRPr lang="en-US" sz="950" dirty="0"/>
          </a:p>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Security headers — nosniff, XSS-protection, frame-options; X-Powered-By removed</a:t>
            </a:r>
            <a:endParaRPr lang="en-US" sz="950" dirty="0"/>
          </a:p>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Secrets in .env only — .gitignore verified, env template committed instead</a:t>
            </a:r>
            <a:endParaRPr lang="en-US" sz="950" dirty="0"/>
          </a:p>
          <a:p>
            <a:pPr marL="152400" indent="-152400">
              <a:spcAft>
                <a:spcPts val="700"/>
              </a:spcAft>
              <a:buSzPct val="100000"/>
              <a:buChar char="▪"/>
            </a:pPr>
            <a:r>
              <a:rPr lang="en-US" sz="950" dirty="0">
                <a:solidFill>
                  <a:srgbClr val="F2F8FD"/>
                </a:solidFill>
                <a:latin typeface="Arial" pitchFamily="34" charset="0"/>
                <a:ea typeface="Arial" pitchFamily="34" charset="-122"/>
                <a:cs typeface="Arial" pitchFamily="34" charset="-120"/>
              </a:rPr>
              <a:t>Input validation — vehicle IDs, speeds and strings bounded server-side</a:t>
            </a:r>
            <a:endParaRPr lang="en-US" sz="950" dirty="0"/>
          </a:p>
        </p:txBody>
      </p:sp>
      <p:sp>
        <p:nvSpPr>
          <p:cNvPr id="31" name="Text 28"/>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322"/>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spc="400" kern="0" dirty="0">
                <a:solidFill>
                  <a:srgbClr val="00C8FF"/>
                </a:solidFill>
                <a:latin typeface="Courier New" pitchFamily="34" charset="0"/>
                <a:ea typeface="Courier New" pitchFamily="34" charset="-122"/>
                <a:cs typeface="Courier New" pitchFamily="34" charset="-120"/>
              </a:rPr>
              <a:t>12 · ROADMAP</a:t>
            </a:r>
            <a:endParaRPr lang="en-US" sz="1100" dirty="0"/>
          </a:p>
        </p:txBody>
      </p:sp>
      <p:sp>
        <p:nvSpPr>
          <p:cNvPr id="3" name="Text 1"/>
          <p:cNvSpPr/>
          <p:nvPr/>
        </p:nvSpPr>
        <p:spPr>
          <a:xfrm>
            <a:off x="502920" y="566928"/>
            <a:ext cx="8138160" cy="566928"/>
          </a:xfrm>
          <a:prstGeom prst="rect">
            <a:avLst/>
          </a:prstGeom>
          <a:noFill/>
          <a:ln/>
        </p:spPr>
        <p:txBody>
          <a:bodyPr wrap="square" lIns="0" tIns="0" rIns="0" bIns="0" rtlCol="0" anchor="ctr"/>
          <a:lstStyle/>
          <a:p>
            <a:pPr indent="0" marL="0">
              <a:buNone/>
            </a:pPr>
            <a:r>
              <a:rPr lang="en-US" sz="3000" b="1" dirty="0">
                <a:solidFill>
                  <a:srgbClr val="F2F8FD"/>
                </a:solidFill>
                <a:latin typeface="Arial" pitchFamily="34" charset="0"/>
                <a:ea typeface="Arial" pitchFamily="34" charset="-122"/>
                <a:cs typeface="Arial" pitchFamily="34" charset="-120"/>
              </a:rPr>
              <a:t>From Prototype to Pilot Deployment</a:t>
            </a:r>
            <a:endParaRPr lang="en-US" sz="3000" dirty="0"/>
          </a:p>
        </p:txBody>
      </p:sp>
      <p:sp>
        <p:nvSpPr>
          <p:cNvPr id="4" name="Shape 2"/>
          <p:cNvSpPr/>
          <p:nvPr/>
        </p:nvSpPr>
        <p:spPr>
          <a:xfrm>
            <a:off x="566928" y="1536192"/>
            <a:ext cx="310896" cy="310896"/>
          </a:xfrm>
          <a:prstGeom prst="ellipse">
            <a:avLst/>
          </a:prstGeom>
          <a:solidFill>
            <a:srgbClr val="00E676"/>
          </a:solidFill>
          <a:ln/>
        </p:spPr>
      </p:sp>
      <p:sp>
        <p:nvSpPr>
          <p:cNvPr id="5" name="Text 3"/>
          <p:cNvSpPr/>
          <p:nvPr/>
        </p:nvSpPr>
        <p:spPr>
          <a:xfrm>
            <a:off x="566928" y="1536192"/>
            <a:ext cx="310896" cy="310896"/>
          </a:xfrm>
          <a:prstGeom prst="rect">
            <a:avLst/>
          </a:prstGeom>
          <a:noFill/>
          <a:ln/>
        </p:spPr>
        <p:txBody>
          <a:bodyPr wrap="square" lIns="0" tIns="0" rIns="0" bIns="0" rtlCol="0" anchor="ctr"/>
          <a:lstStyle/>
          <a:p>
            <a:pPr algn="ctr" indent="0" marL="0">
              <a:buNone/>
            </a:pPr>
            <a:r>
              <a:rPr lang="en-US" sz="1200" b="1" dirty="0">
                <a:solidFill>
                  <a:srgbClr val="0A1322"/>
                </a:solidFill>
                <a:latin typeface="Arial" pitchFamily="34" charset="0"/>
                <a:ea typeface="Arial" pitchFamily="34" charset="-122"/>
                <a:cs typeface="Arial" pitchFamily="34" charset="-120"/>
              </a:rPr>
              <a:t>1</a:t>
            </a:r>
            <a:endParaRPr lang="en-US" sz="1200" dirty="0"/>
          </a:p>
        </p:txBody>
      </p:sp>
      <p:sp>
        <p:nvSpPr>
          <p:cNvPr id="6" name="Shape 4"/>
          <p:cNvSpPr/>
          <p:nvPr/>
        </p:nvSpPr>
        <p:spPr>
          <a:xfrm>
            <a:off x="722376" y="1874520"/>
            <a:ext cx="0" cy="384048"/>
          </a:xfrm>
          <a:prstGeom prst="line">
            <a:avLst/>
          </a:prstGeom>
          <a:noFill/>
          <a:ln w="19050">
            <a:solidFill>
              <a:srgbClr val="44607A"/>
            </a:solidFill>
            <a:prstDash val="dash"/>
          </a:ln>
        </p:spPr>
      </p:sp>
      <p:sp>
        <p:nvSpPr>
          <p:cNvPr id="7" name="Text 5"/>
          <p:cNvSpPr/>
          <p:nvPr/>
        </p:nvSpPr>
        <p:spPr>
          <a:xfrm>
            <a:off x="1097280" y="1389888"/>
            <a:ext cx="7498080" cy="292608"/>
          </a:xfrm>
          <a:prstGeom prst="rect">
            <a:avLst/>
          </a:prstGeom>
          <a:noFill/>
          <a:ln/>
        </p:spPr>
        <p:txBody>
          <a:bodyPr wrap="square" lIns="0" tIns="0" rIns="0" bIns="0" rtlCol="0" anchor="ctr"/>
          <a:lstStyle/>
          <a:p>
            <a:pPr indent="0" marL="0">
              <a:buNone/>
            </a:pPr>
            <a:r>
              <a:rPr lang="en-US" sz="1300" b="1" dirty="0">
                <a:solidFill>
                  <a:srgbClr val="00E676"/>
                </a:solidFill>
                <a:latin typeface="Arial" pitchFamily="34" charset="0"/>
                <a:ea typeface="Arial" pitchFamily="34" charset="-122"/>
                <a:cs typeface="Arial" pitchFamily="34" charset="-120"/>
              </a:rPr>
              <a:t>DONE — WORKING PROTOTYPE</a:t>
            </a:r>
            <a:endParaRPr lang="en-US" sz="1300" dirty="0"/>
          </a:p>
        </p:txBody>
      </p:sp>
      <p:sp>
        <p:nvSpPr>
          <p:cNvPr id="8" name="Text 6"/>
          <p:cNvSpPr/>
          <p:nvPr/>
        </p:nvSpPr>
        <p:spPr>
          <a:xfrm>
            <a:off x="1097280" y="1700784"/>
            <a:ext cx="7498080" cy="365760"/>
          </a:xfrm>
          <a:prstGeom prst="rect">
            <a:avLst/>
          </a:prstGeom>
          <a:noFill/>
          <a:ln/>
        </p:spPr>
        <p:txBody>
          <a:bodyPr wrap="square" lIns="0" tIns="0" rIns="0" bIns="0" rtlCol="0" anchor="ctr"/>
          <a:lstStyle/>
          <a:p>
            <a:pPr indent="0" marL="0">
              <a:buNone/>
            </a:pPr>
            <a:r>
              <a:rPr lang="en-US" sz="1050" dirty="0">
                <a:solidFill>
                  <a:srgbClr val="7E97AD"/>
                </a:solidFill>
                <a:latin typeface="Arial" pitchFamily="34" charset="0"/>
                <a:ea typeface="Arial" pitchFamily="34" charset="-122"/>
                <a:cs typeface="Arial" pitchFamily="34" charset="-120"/>
              </a:rPr>
              <a:t>Full stack built · 6 live demos · ML @ 87% · firmware written · security hardened</a:t>
            </a:r>
            <a:endParaRPr lang="en-US" sz="1050" dirty="0"/>
          </a:p>
        </p:txBody>
      </p:sp>
      <p:sp>
        <p:nvSpPr>
          <p:cNvPr id="9" name="Shape 7"/>
          <p:cNvSpPr/>
          <p:nvPr/>
        </p:nvSpPr>
        <p:spPr>
          <a:xfrm>
            <a:off x="566928" y="2377440"/>
            <a:ext cx="310896" cy="310896"/>
          </a:xfrm>
          <a:prstGeom prst="ellipse">
            <a:avLst/>
          </a:prstGeom>
          <a:solidFill>
            <a:srgbClr val="00C8FF"/>
          </a:solidFill>
          <a:ln/>
        </p:spPr>
      </p:sp>
      <p:sp>
        <p:nvSpPr>
          <p:cNvPr id="10" name="Text 8"/>
          <p:cNvSpPr/>
          <p:nvPr/>
        </p:nvSpPr>
        <p:spPr>
          <a:xfrm>
            <a:off x="566928" y="2377440"/>
            <a:ext cx="310896" cy="310896"/>
          </a:xfrm>
          <a:prstGeom prst="rect">
            <a:avLst/>
          </a:prstGeom>
          <a:noFill/>
          <a:ln/>
        </p:spPr>
        <p:txBody>
          <a:bodyPr wrap="square" lIns="0" tIns="0" rIns="0" bIns="0" rtlCol="0" anchor="ctr"/>
          <a:lstStyle/>
          <a:p>
            <a:pPr algn="ctr" indent="0" marL="0">
              <a:buNone/>
            </a:pPr>
            <a:r>
              <a:rPr lang="en-US" sz="1200" b="1" dirty="0">
                <a:solidFill>
                  <a:srgbClr val="0A1322"/>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722376" y="2715768"/>
            <a:ext cx="0" cy="384048"/>
          </a:xfrm>
          <a:prstGeom prst="line">
            <a:avLst/>
          </a:prstGeom>
          <a:noFill/>
          <a:ln w="19050">
            <a:solidFill>
              <a:srgbClr val="44607A"/>
            </a:solidFill>
            <a:prstDash val="dash"/>
          </a:ln>
        </p:spPr>
      </p:sp>
      <p:sp>
        <p:nvSpPr>
          <p:cNvPr id="12" name="Text 10"/>
          <p:cNvSpPr/>
          <p:nvPr/>
        </p:nvSpPr>
        <p:spPr>
          <a:xfrm>
            <a:off x="1097280" y="2231136"/>
            <a:ext cx="7498080" cy="292608"/>
          </a:xfrm>
          <a:prstGeom prst="rect">
            <a:avLst/>
          </a:prstGeom>
          <a:noFill/>
          <a:ln/>
        </p:spPr>
        <p:txBody>
          <a:bodyPr wrap="square" lIns="0" tIns="0" rIns="0" bIns="0" rtlCol="0" anchor="ctr"/>
          <a:lstStyle/>
          <a:p>
            <a:pPr indent="0" marL="0">
              <a:buNone/>
            </a:pPr>
            <a:r>
              <a:rPr lang="en-US" sz="1300" b="1" dirty="0">
                <a:solidFill>
                  <a:srgbClr val="00C8FF"/>
                </a:solidFill>
                <a:latin typeface="Arial" pitchFamily="34" charset="0"/>
                <a:ea typeface="Arial" pitchFamily="34" charset="-122"/>
                <a:cs typeface="Arial" pitchFamily="34" charset="-120"/>
              </a:rPr>
              <a:t>NEXT 3 MONTHS</a:t>
            </a:r>
            <a:endParaRPr lang="en-US" sz="1300" dirty="0"/>
          </a:p>
        </p:txBody>
      </p:sp>
      <p:sp>
        <p:nvSpPr>
          <p:cNvPr id="13" name="Text 11"/>
          <p:cNvSpPr/>
          <p:nvPr/>
        </p:nvSpPr>
        <p:spPr>
          <a:xfrm>
            <a:off x="1097280" y="2542032"/>
            <a:ext cx="7498080" cy="365760"/>
          </a:xfrm>
          <a:prstGeom prst="rect">
            <a:avLst/>
          </a:prstGeom>
          <a:noFill/>
          <a:ln/>
        </p:spPr>
        <p:txBody>
          <a:bodyPr wrap="square" lIns="0" tIns="0" rIns="0" bIns="0" rtlCol="0" anchor="ctr"/>
          <a:lstStyle/>
          <a:p>
            <a:pPr indent="0" marL="0">
              <a:buNone/>
            </a:pPr>
            <a:r>
              <a:rPr lang="en-US" sz="1050" dirty="0">
                <a:solidFill>
                  <a:srgbClr val="7E97AD"/>
                </a:solidFill>
                <a:latin typeface="Arial" pitchFamily="34" charset="0"/>
                <a:ea typeface="Arial" pitchFamily="34" charset="-122"/>
                <a:cs typeface="Arial" pitchFamily="34" charset="-120"/>
              </a:rPr>
              <a:t>Real NCRB + iRAD training data · physical ESP32 device in 1 test vehicle · Twilio SMS live</a:t>
            </a:r>
            <a:endParaRPr lang="en-US" sz="1050" dirty="0"/>
          </a:p>
        </p:txBody>
      </p:sp>
      <p:sp>
        <p:nvSpPr>
          <p:cNvPr id="14" name="Shape 12"/>
          <p:cNvSpPr/>
          <p:nvPr/>
        </p:nvSpPr>
        <p:spPr>
          <a:xfrm>
            <a:off x="566928" y="3218688"/>
            <a:ext cx="310896" cy="310896"/>
          </a:xfrm>
          <a:prstGeom prst="ellipse">
            <a:avLst/>
          </a:prstGeom>
          <a:solidFill>
            <a:srgbClr val="FFA033"/>
          </a:solidFill>
          <a:ln/>
        </p:spPr>
      </p:sp>
      <p:sp>
        <p:nvSpPr>
          <p:cNvPr id="15" name="Text 13"/>
          <p:cNvSpPr/>
          <p:nvPr/>
        </p:nvSpPr>
        <p:spPr>
          <a:xfrm>
            <a:off x="566928" y="3218688"/>
            <a:ext cx="310896" cy="310896"/>
          </a:xfrm>
          <a:prstGeom prst="rect">
            <a:avLst/>
          </a:prstGeom>
          <a:noFill/>
          <a:ln/>
        </p:spPr>
        <p:txBody>
          <a:bodyPr wrap="square" lIns="0" tIns="0" rIns="0" bIns="0" rtlCol="0" anchor="ctr"/>
          <a:lstStyle/>
          <a:p>
            <a:pPr algn="ctr" indent="0" marL="0">
              <a:buNone/>
            </a:pPr>
            <a:r>
              <a:rPr lang="en-US" sz="1200" b="1" dirty="0">
                <a:solidFill>
                  <a:srgbClr val="0A1322"/>
                </a:solidFill>
                <a:latin typeface="Arial" pitchFamily="34" charset="0"/>
                <a:ea typeface="Arial" pitchFamily="34" charset="-122"/>
                <a:cs typeface="Arial" pitchFamily="34" charset="-120"/>
              </a:rPr>
              <a:t>3</a:t>
            </a:r>
            <a:endParaRPr lang="en-US" sz="1200" dirty="0"/>
          </a:p>
        </p:txBody>
      </p:sp>
      <p:sp>
        <p:nvSpPr>
          <p:cNvPr id="16" name="Shape 14"/>
          <p:cNvSpPr/>
          <p:nvPr/>
        </p:nvSpPr>
        <p:spPr>
          <a:xfrm>
            <a:off x="722376" y="3557016"/>
            <a:ext cx="0" cy="384048"/>
          </a:xfrm>
          <a:prstGeom prst="line">
            <a:avLst/>
          </a:prstGeom>
          <a:noFill/>
          <a:ln w="19050">
            <a:solidFill>
              <a:srgbClr val="44607A"/>
            </a:solidFill>
            <a:prstDash val="dash"/>
          </a:ln>
        </p:spPr>
      </p:sp>
      <p:sp>
        <p:nvSpPr>
          <p:cNvPr id="17" name="Text 15"/>
          <p:cNvSpPr/>
          <p:nvPr/>
        </p:nvSpPr>
        <p:spPr>
          <a:xfrm>
            <a:off x="1097280" y="3072384"/>
            <a:ext cx="7498080" cy="292608"/>
          </a:xfrm>
          <a:prstGeom prst="rect">
            <a:avLst/>
          </a:prstGeom>
          <a:noFill/>
          <a:ln/>
        </p:spPr>
        <p:txBody>
          <a:bodyPr wrap="square" lIns="0" tIns="0" rIns="0" bIns="0" rtlCol="0" anchor="ctr"/>
          <a:lstStyle/>
          <a:p>
            <a:pPr indent="0" marL="0">
              <a:buNone/>
            </a:pPr>
            <a:r>
              <a:rPr lang="en-US" sz="1300" b="1" dirty="0">
                <a:solidFill>
                  <a:srgbClr val="FFA033"/>
                </a:solidFill>
                <a:latin typeface="Arial" pitchFamily="34" charset="0"/>
                <a:ea typeface="Arial" pitchFamily="34" charset="-122"/>
                <a:cs typeface="Arial" pitchFamily="34" charset="-120"/>
              </a:rPr>
              <a:t>6–12 MONTHS</a:t>
            </a:r>
            <a:endParaRPr lang="en-US" sz="1300" dirty="0"/>
          </a:p>
        </p:txBody>
      </p:sp>
      <p:sp>
        <p:nvSpPr>
          <p:cNvPr id="18" name="Text 16"/>
          <p:cNvSpPr/>
          <p:nvPr/>
        </p:nvSpPr>
        <p:spPr>
          <a:xfrm>
            <a:off x="1097280" y="3383280"/>
            <a:ext cx="7498080" cy="365760"/>
          </a:xfrm>
          <a:prstGeom prst="rect">
            <a:avLst/>
          </a:prstGeom>
          <a:noFill/>
          <a:ln/>
        </p:spPr>
        <p:txBody>
          <a:bodyPr wrap="square" lIns="0" tIns="0" rIns="0" bIns="0" rtlCol="0" anchor="ctr"/>
          <a:lstStyle/>
          <a:p>
            <a:pPr indent="0" marL="0">
              <a:buNone/>
            </a:pPr>
            <a:r>
              <a:rPr lang="en-US" sz="1050" dirty="0">
                <a:solidFill>
                  <a:srgbClr val="7E97AD"/>
                </a:solidFill>
                <a:latin typeface="Arial" pitchFamily="34" charset="0"/>
                <a:ea typeface="Arial" pitchFamily="34" charset="-122"/>
                <a:cs typeface="Arial" pitchFamily="34" charset="-120"/>
              </a:rPr>
              <a:t>5-vehicle pilot on Banihal route · GSM fallback for dead zones · cloud deployment (AWS)</a:t>
            </a:r>
            <a:endParaRPr lang="en-US" sz="1050" dirty="0"/>
          </a:p>
        </p:txBody>
      </p:sp>
      <p:sp>
        <p:nvSpPr>
          <p:cNvPr id="19" name="Shape 17"/>
          <p:cNvSpPr/>
          <p:nvPr/>
        </p:nvSpPr>
        <p:spPr>
          <a:xfrm>
            <a:off x="566928" y="4059936"/>
            <a:ext cx="310896" cy="310896"/>
          </a:xfrm>
          <a:prstGeom prst="ellipse">
            <a:avLst/>
          </a:prstGeom>
          <a:solidFill>
            <a:srgbClr val="C084FC"/>
          </a:solidFill>
          <a:ln/>
        </p:spPr>
      </p:sp>
      <p:sp>
        <p:nvSpPr>
          <p:cNvPr id="20" name="Text 18"/>
          <p:cNvSpPr/>
          <p:nvPr/>
        </p:nvSpPr>
        <p:spPr>
          <a:xfrm>
            <a:off x="566928" y="4059936"/>
            <a:ext cx="310896" cy="310896"/>
          </a:xfrm>
          <a:prstGeom prst="rect">
            <a:avLst/>
          </a:prstGeom>
          <a:noFill/>
          <a:ln/>
        </p:spPr>
        <p:txBody>
          <a:bodyPr wrap="square" lIns="0" tIns="0" rIns="0" bIns="0" rtlCol="0" anchor="ctr"/>
          <a:lstStyle/>
          <a:p>
            <a:pPr algn="ctr" indent="0" marL="0">
              <a:buNone/>
            </a:pPr>
            <a:r>
              <a:rPr lang="en-US" sz="1200" b="1" dirty="0">
                <a:solidFill>
                  <a:srgbClr val="0A1322"/>
                </a:solidFill>
                <a:latin typeface="Arial" pitchFamily="34" charset="0"/>
                <a:ea typeface="Arial" pitchFamily="34" charset="-122"/>
                <a:cs typeface="Arial" pitchFamily="34" charset="-120"/>
              </a:rPr>
              <a:t>4</a:t>
            </a:r>
            <a:endParaRPr lang="en-US" sz="1200" dirty="0"/>
          </a:p>
        </p:txBody>
      </p:sp>
      <p:sp>
        <p:nvSpPr>
          <p:cNvPr id="21" name="Text 19"/>
          <p:cNvSpPr/>
          <p:nvPr/>
        </p:nvSpPr>
        <p:spPr>
          <a:xfrm>
            <a:off x="1097280" y="3913632"/>
            <a:ext cx="7498080" cy="292608"/>
          </a:xfrm>
          <a:prstGeom prst="rect">
            <a:avLst/>
          </a:prstGeom>
          <a:noFill/>
          <a:ln/>
        </p:spPr>
        <p:txBody>
          <a:bodyPr wrap="square" lIns="0" tIns="0" rIns="0" bIns="0" rtlCol="0" anchor="ctr"/>
          <a:lstStyle/>
          <a:p>
            <a:pPr indent="0" marL="0">
              <a:buNone/>
            </a:pPr>
            <a:r>
              <a:rPr lang="en-US" sz="1300" b="1" dirty="0">
                <a:solidFill>
                  <a:srgbClr val="C084FC"/>
                </a:solidFill>
                <a:latin typeface="Arial" pitchFamily="34" charset="0"/>
                <a:ea typeface="Arial" pitchFamily="34" charset="-122"/>
                <a:cs typeface="Arial" pitchFamily="34" charset="-120"/>
              </a:rPr>
              <a:t>VISION</a:t>
            </a:r>
            <a:endParaRPr lang="en-US" sz="1300" dirty="0"/>
          </a:p>
        </p:txBody>
      </p:sp>
      <p:sp>
        <p:nvSpPr>
          <p:cNvPr id="22" name="Text 20"/>
          <p:cNvSpPr/>
          <p:nvPr/>
        </p:nvSpPr>
        <p:spPr>
          <a:xfrm>
            <a:off x="1097280" y="4224528"/>
            <a:ext cx="7498080" cy="365760"/>
          </a:xfrm>
          <a:prstGeom prst="rect">
            <a:avLst/>
          </a:prstGeom>
          <a:noFill/>
          <a:ln/>
        </p:spPr>
        <p:txBody>
          <a:bodyPr wrap="square" lIns="0" tIns="0" rIns="0" bIns="0" rtlCol="0" anchor="ctr"/>
          <a:lstStyle/>
          <a:p>
            <a:pPr indent="0" marL="0">
              <a:buNone/>
            </a:pPr>
            <a:r>
              <a:rPr lang="en-US" sz="1050" dirty="0">
                <a:solidFill>
                  <a:srgbClr val="7E97AD"/>
                </a:solidFill>
                <a:latin typeface="Arial" pitchFamily="34" charset="0"/>
                <a:ea typeface="Arial" pitchFamily="34" charset="-122"/>
                <a:cs typeface="Arial" pitchFamily="34" charset="-120"/>
              </a:rPr>
              <a:t>J&amp;K Traffic Police partnership · drone air-support dispatch · 10,000+ vehicle scale</a:t>
            </a:r>
            <a:endParaRPr lang="en-US" sz="1050" dirty="0"/>
          </a:p>
        </p:txBody>
      </p:sp>
      <p:sp>
        <p:nvSpPr>
          <p:cNvPr id="23" name="Text 21"/>
          <p:cNvSpPr/>
          <p:nvPr/>
        </p:nvSpPr>
        <p:spPr>
          <a:xfrm>
            <a:off x="7223760" y="4828032"/>
            <a:ext cx="1737360" cy="228600"/>
          </a:xfrm>
          <a:prstGeom prst="rect">
            <a:avLst/>
          </a:prstGeom>
          <a:noFill/>
          <a:ln/>
        </p:spPr>
        <p:txBody>
          <a:bodyPr wrap="square" lIns="0" tIns="0" rIns="0" bIns="0" rtlCol="0" anchor="ctr"/>
          <a:lstStyle/>
          <a:p>
            <a:pPr algn="r" indent="0" marL="0">
              <a:buNone/>
            </a:pPr>
            <a:r>
              <a:rPr lang="en-US" sz="800" dirty="0">
                <a:solidFill>
                  <a:srgbClr val="44607A"/>
                </a:solidFill>
                <a:latin typeface="Courier New" pitchFamily="34" charset="0"/>
                <a:ea typeface="Courier New" pitchFamily="34" charset="-122"/>
                <a:cs typeface="Courier New" pitchFamily="34" charset="-120"/>
              </a:rPr>
              <a:t>HILLSAFE AI  ·  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322"/>
        </a:solidFill>
      </p:bgPr>
    </p:bg>
    <p:spTree>
      <p:nvGrpSpPr>
        <p:cNvPr id="1" name=""/>
        <p:cNvGrpSpPr/>
        <p:nvPr/>
      </p:nvGrpSpPr>
      <p:grpSpPr>
        <a:xfrm>
          <a:off x="0" y="0"/>
          <a:ext cx="0" cy="0"/>
          <a:chOff x="0" y="0"/>
          <a:chExt cx="0" cy="0"/>
        </a:xfrm>
      </p:grpSpPr>
      <p:sp>
        <p:nvSpPr>
          <p:cNvPr id="2" name="Shape 0"/>
          <p:cNvSpPr/>
          <p:nvPr/>
        </p:nvSpPr>
        <p:spPr>
          <a:xfrm>
            <a:off x="349855" y="4554833"/>
            <a:ext cx="23160" cy="23160"/>
          </a:xfrm>
          <a:prstGeom prst="ellipse">
            <a:avLst/>
          </a:prstGeom>
          <a:solidFill>
            <a:srgbClr val="00E676">
              <a:alpha val="28000"/>
            </a:srgbClr>
          </a:solidFill>
          <a:ln/>
        </p:spPr>
      </p:sp>
      <p:sp>
        <p:nvSpPr>
          <p:cNvPr id="3" name="Shape 1"/>
          <p:cNvSpPr/>
          <p:nvPr/>
        </p:nvSpPr>
        <p:spPr>
          <a:xfrm>
            <a:off x="6262100" y="578151"/>
            <a:ext cx="62019" cy="62019"/>
          </a:xfrm>
          <a:prstGeom prst="ellipse">
            <a:avLst/>
          </a:prstGeom>
          <a:solidFill>
            <a:srgbClr val="00E676">
              <a:alpha val="28000"/>
            </a:srgbClr>
          </a:solidFill>
          <a:ln/>
        </p:spPr>
      </p:sp>
      <p:sp>
        <p:nvSpPr>
          <p:cNvPr id="4" name="Shape 2"/>
          <p:cNvSpPr/>
          <p:nvPr/>
        </p:nvSpPr>
        <p:spPr>
          <a:xfrm>
            <a:off x="2400606" y="3131738"/>
            <a:ext cx="18839" cy="18839"/>
          </a:xfrm>
          <a:prstGeom prst="ellipse">
            <a:avLst/>
          </a:prstGeom>
          <a:solidFill>
            <a:srgbClr val="00E676">
              <a:alpha val="28000"/>
            </a:srgbClr>
          </a:solidFill>
          <a:ln/>
        </p:spPr>
      </p:sp>
      <p:sp>
        <p:nvSpPr>
          <p:cNvPr id="5" name="Shape 3"/>
          <p:cNvSpPr/>
          <p:nvPr/>
        </p:nvSpPr>
        <p:spPr>
          <a:xfrm>
            <a:off x="8698993" y="3991352"/>
            <a:ext cx="29688" cy="29688"/>
          </a:xfrm>
          <a:prstGeom prst="ellipse">
            <a:avLst/>
          </a:prstGeom>
          <a:solidFill>
            <a:srgbClr val="00E676">
              <a:alpha val="28000"/>
            </a:srgbClr>
          </a:solidFill>
          <a:ln/>
        </p:spPr>
      </p:sp>
      <p:sp>
        <p:nvSpPr>
          <p:cNvPr id="6" name="Shape 4"/>
          <p:cNvSpPr/>
          <p:nvPr/>
        </p:nvSpPr>
        <p:spPr>
          <a:xfrm>
            <a:off x="2983136" y="1324125"/>
            <a:ext cx="61878" cy="61878"/>
          </a:xfrm>
          <a:prstGeom prst="ellipse">
            <a:avLst/>
          </a:prstGeom>
          <a:solidFill>
            <a:srgbClr val="00E676">
              <a:alpha val="28000"/>
            </a:srgbClr>
          </a:solidFill>
          <a:ln/>
        </p:spPr>
      </p:sp>
      <p:sp>
        <p:nvSpPr>
          <p:cNvPr id="7" name="Shape 5"/>
          <p:cNvSpPr/>
          <p:nvPr/>
        </p:nvSpPr>
        <p:spPr>
          <a:xfrm>
            <a:off x="5595637" y="431148"/>
            <a:ext cx="19704" cy="19704"/>
          </a:xfrm>
          <a:prstGeom prst="ellipse">
            <a:avLst/>
          </a:prstGeom>
          <a:solidFill>
            <a:srgbClr val="00E676">
              <a:alpha val="28000"/>
            </a:srgbClr>
          </a:solidFill>
          <a:ln/>
        </p:spPr>
      </p:sp>
      <p:sp>
        <p:nvSpPr>
          <p:cNvPr id="8" name="Shape 6"/>
          <p:cNvSpPr/>
          <p:nvPr/>
        </p:nvSpPr>
        <p:spPr>
          <a:xfrm>
            <a:off x="1543254" y="4027864"/>
            <a:ext cx="26411" cy="26411"/>
          </a:xfrm>
          <a:prstGeom prst="ellipse">
            <a:avLst/>
          </a:prstGeom>
          <a:solidFill>
            <a:srgbClr val="00E676">
              <a:alpha val="28000"/>
            </a:srgbClr>
          </a:solidFill>
          <a:ln/>
        </p:spPr>
      </p:sp>
      <p:sp>
        <p:nvSpPr>
          <p:cNvPr id="9" name="Shape 7"/>
          <p:cNvSpPr/>
          <p:nvPr/>
        </p:nvSpPr>
        <p:spPr>
          <a:xfrm>
            <a:off x="311397" y="2114575"/>
            <a:ext cx="50542" cy="50542"/>
          </a:xfrm>
          <a:prstGeom prst="ellipse">
            <a:avLst/>
          </a:prstGeom>
          <a:solidFill>
            <a:srgbClr val="00E676">
              <a:alpha val="28000"/>
            </a:srgbClr>
          </a:solidFill>
          <a:ln/>
        </p:spPr>
      </p:sp>
      <p:sp>
        <p:nvSpPr>
          <p:cNvPr id="10" name="Shape 8"/>
          <p:cNvSpPr/>
          <p:nvPr/>
        </p:nvSpPr>
        <p:spPr>
          <a:xfrm>
            <a:off x="4330479" y="1345584"/>
            <a:ext cx="25696" cy="25696"/>
          </a:xfrm>
          <a:prstGeom prst="ellipse">
            <a:avLst/>
          </a:prstGeom>
          <a:solidFill>
            <a:srgbClr val="00E676">
              <a:alpha val="28000"/>
            </a:srgbClr>
          </a:solidFill>
          <a:ln/>
        </p:spPr>
      </p:sp>
      <p:sp>
        <p:nvSpPr>
          <p:cNvPr id="11" name="Shape 9"/>
          <p:cNvSpPr/>
          <p:nvPr/>
        </p:nvSpPr>
        <p:spPr>
          <a:xfrm>
            <a:off x="8182201" y="3842318"/>
            <a:ext cx="46801" cy="46801"/>
          </a:xfrm>
          <a:prstGeom prst="ellipse">
            <a:avLst/>
          </a:prstGeom>
          <a:solidFill>
            <a:srgbClr val="00E676">
              <a:alpha val="28000"/>
            </a:srgbClr>
          </a:solidFill>
          <a:ln/>
        </p:spPr>
      </p:sp>
      <p:sp>
        <p:nvSpPr>
          <p:cNvPr id="12" name="Shape 10"/>
          <p:cNvSpPr/>
          <p:nvPr/>
        </p:nvSpPr>
        <p:spPr>
          <a:xfrm>
            <a:off x="7870567" y="4458625"/>
            <a:ext cx="60028" cy="60028"/>
          </a:xfrm>
          <a:prstGeom prst="ellipse">
            <a:avLst/>
          </a:prstGeom>
          <a:solidFill>
            <a:srgbClr val="00E676">
              <a:alpha val="28000"/>
            </a:srgbClr>
          </a:solidFill>
          <a:ln/>
        </p:spPr>
      </p:sp>
      <p:sp>
        <p:nvSpPr>
          <p:cNvPr id="13" name="Shape 11"/>
          <p:cNvSpPr/>
          <p:nvPr/>
        </p:nvSpPr>
        <p:spPr>
          <a:xfrm>
            <a:off x="2218905" y="4599005"/>
            <a:ext cx="45832" cy="45832"/>
          </a:xfrm>
          <a:prstGeom prst="ellipse">
            <a:avLst/>
          </a:prstGeom>
          <a:solidFill>
            <a:srgbClr val="00E676">
              <a:alpha val="28000"/>
            </a:srgbClr>
          </a:solidFill>
          <a:ln/>
        </p:spPr>
      </p:sp>
      <p:sp>
        <p:nvSpPr>
          <p:cNvPr id="14" name="Shape 12"/>
          <p:cNvSpPr/>
          <p:nvPr/>
        </p:nvSpPr>
        <p:spPr>
          <a:xfrm>
            <a:off x="4368584" y="1871844"/>
            <a:ext cx="63474" cy="63474"/>
          </a:xfrm>
          <a:prstGeom prst="ellipse">
            <a:avLst/>
          </a:prstGeom>
          <a:solidFill>
            <a:srgbClr val="00E676">
              <a:alpha val="28000"/>
            </a:srgbClr>
          </a:solidFill>
          <a:ln/>
        </p:spPr>
      </p:sp>
      <p:sp>
        <p:nvSpPr>
          <p:cNvPr id="15" name="Shape 13"/>
          <p:cNvSpPr/>
          <p:nvPr/>
        </p:nvSpPr>
        <p:spPr>
          <a:xfrm>
            <a:off x="3971094" y="603939"/>
            <a:ext cx="22437" cy="22437"/>
          </a:xfrm>
          <a:prstGeom prst="ellipse">
            <a:avLst/>
          </a:prstGeom>
          <a:solidFill>
            <a:srgbClr val="00E676">
              <a:alpha val="28000"/>
            </a:srgbClr>
          </a:solidFill>
          <a:ln/>
        </p:spPr>
      </p:sp>
      <p:sp>
        <p:nvSpPr>
          <p:cNvPr id="16" name="Shape 14"/>
          <p:cNvSpPr/>
          <p:nvPr/>
        </p:nvSpPr>
        <p:spPr>
          <a:xfrm>
            <a:off x="8754698" y="4370349"/>
            <a:ext cx="62412" cy="62412"/>
          </a:xfrm>
          <a:prstGeom prst="ellipse">
            <a:avLst/>
          </a:prstGeom>
          <a:solidFill>
            <a:srgbClr val="00E676">
              <a:alpha val="28000"/>
            </a:srgbClr>
          </a:solidFill>
          <a:ln/>
        </p:spPr>
      </p:sp>
      <p:sp>
        <p:nvSpPr>
          <p:cNvPr id="17" name="Shape 15"/>
          <p:cNvSpPr/>
          <p:nvPr/>
        </p:nvSpPr>
        <p:spPr>
          <a:xfrm>
            <a:off x="1244470" y="2891588"/>
            <a:ext cx="31024" cy="31024"/>
          </a:xfrm>
          <a:prstGeom prst="ellipse">
            <a:avLst/>
          </a:prstGeom>
          <a:solidFill>
            <a:srgbClr val="00E676">
              <a:alpha val="28000"/>
            </a:srgbClr>
          </a:solidFill>
          <a:ln/>
        </p:spPr>
      </p:sp>
      <p:sp>
        <p:nvSpPr>
          <p:cNvPr id="18" name="Shape 16"/>
          <p:cNvSpPr/>
          <p:nvPr/>
        </p:nvSpPr>
        <p:spPr>
          <a:xfrm>
            <a:off x="4369446" y="979171"/>
            <a:ext cx="61203" cy="61203"/>
          </a:xfrm>
          <a:prstGeom prst="ellipse">
            <a:avLst/>
          </a:prstGeom>
          <a:solidFill>
            <a:srgbClr val="00E676">
              <a:alpha val="28000"/>
            </a:srgbClr>
          </a:solidFill>
          <a:ln/>
        </p:spPr>
      </p:sp>
      <p:sp>
        <p:nvSpPr>
          <p:cNvPr id="19" name="Shape 17"/>
          <p:cNvSpPr/>
          <p:nvPr/>
        </p:nvSpPr>
        <p:spPr>
          <a:xfrm>
            <a:off x="7516884" y="2741027"/>
            <a:ext cx="47042" cy="47042"/>
          </a:xfrm>
          <a:prstGeom prst="ellipse">
            <a:avLst/>
          </a:prstGeom>
          <a:solidFill>
            <a:srgbClr val="00E676">
              <a:alpha val="28000"/>
            </a:srgbClr>
          </a:solidFill>
          <a:ln/>
        </p:spPr>
      </p:sp>
      <p:sp>
        <p:nvSpPr>
          <p:cNvPr id="20" name="Shape 18"/>
          <p:cNvSpPr/>
          <p:nvPr/>
        </p:nvSpPr>
        <p:spPr>
          <a:xfrm>
            <a:off x="2531320" y="216925"/>
            <a:ext cx="56688" cy="56688"/>
          </a:xfrm>
          <a:prstGeom prst="ellipse">
            <a:avLst/>
          </a:prstGeom>
          <a:solidFill>
            <a:srgbClr val="00E676">
              <a:alpha val="28000"/>
            </a:srgbClr>
          </a:solidFill>
          <a:ln/>
        </p:spPr>
      </p:sp>
      <p:sp>
        <p:nvSpPr>
          <p:cNvPr id="21" name="Shape 19"/>
          <p:cNvSpPr/>
          <p:nvPr/>
        </p:nvSpPr>
        <p:spPr>
          <a:xfrm>
            <a:off x="6662977" y="878224"/>
            <a:ext cx="61143" cy="61143"/>
          </a:xfrm>
          <a:prstGeom prst="ellipse">
            <a:avLst/>
          </a:prstGeom>
          <a:solidFill>
            <a:srgbClr val="00E676">
              <a:alpha val="28000"/>
            </a:srgbClr>
          </a:solidFill>
          <a:ln/>
        </p:spPr>
      </p:sp>
      <p:sp>
        <p:nvSpPr>
          <p:cNvPr id="22" name="Shape 20"/>
          <p:cNvSpPr/>
          <p:nvPr/>
        </p:nvSpPr>
        <p:spPr>
          <a:xfrm>
            <a:off x="3591494" y="2020492"/>
            <a:ext cx="56325" cy="56325"/>
          </a:xfrm>
          <a:prstGeom prst="ellipse">
            <a:avLst/>
          </a:prstGeom>
          <a:solidFill>
            <a:srgbClr val="00E676">
              <a:alpha val="28000"/>
            </a:srgbClr>
          </a:solidFill>
          <a:ln/>
        </p:spPr>
      </p:sp>
      <p:sp>
        <p:nvSpPr>
          <p:cNvPr id="23" name="Shape 21"/>
          <p:cNvSpPr/>
          <p:nvPr/>
        </p:nvSpPr>
        <p:spPr>
          <a:xfrm>
            <a:off x="7344168" y="3138128"/>
            <a:ext cx="53342" cy="53342"/>
          </a:xfrm>
          <a:prstGeom prst="ellipse">
            <a:avLst/>
          </a:prstGeom>
          <a:solidFill>
            <a:srgbClr val="00E676">
              <a:alpha val="28000"/>
            </a:srgbClr>
          </a:solidFill>
          <a:ln/>
        </p:spPr>
      </p:sp>
      <p:pic>
        <p:nvPicPr>
          <p:cNvPr id="24" name="Image 0" descr="preencoded.png">    </p:cNvPr>
          <p:cNvPicPr>
            <a:picLocks noChangeAspect="1"/>
          </p:cNvPicPr>
          <p:nvPr/>
        </p:nvPicPr>
        <p:blipFill>
          <a:blip r:embed="rId1"/>
          <a:stretch>
            <a:fillRect/>
          </a:stretch>
        </p:blipFill>
        <p:spPr>
          <a:xfrm>
            <a:off x="4187952" y="777240"/>
            <a:ext cx="777240" cy="777240"/>
          </a:xfrm>
          <a:prstGeom prst="rect">
            <a:avLst/>
          </a:prstGeom>
        </p:spPr>
      </p:pic>
      <p:sp>
        <p:nvSpPr>
          <p:cNvPr id="25" name="Text 22"/>
          <p:cNvSpPr/>
          <p:nvPr/>
        </p:nvSpPr>
        <p:spPr>
          <a:xfrm>
            <a:off x="457200" y="1737360"/>
            <a:ext cx="8229600" cy="685800"/>
          </a:xfrm>
          <a:prstGeom prst="rect">
            <a:avLst/>
          </a:prstGeom>
          <a:noFill/>
          <a:ln/>
        </p:spPr>
        <p:txBody>
          <a:bodyPr wrap="square" lIns="0" tIns="0" rIns="0" bIns="0" rtlCol="0" anchor="ctr"/>
          <a:lstStyle/>
          <a:p>
            <a:pPr algn="ctr" indent="0" marL="0">
              <a:buNone/>
            </a:pPr>
            <a:r>
              <a:rPr lang="en-US" sz="4000" b="1" dirty="0">
                <a:solidFill>
                  <a:srgbClr val="F2F8FD"/>
                </a:solidFill>
                <a:latin typeface="Arial" pitchFamily="34" charset="0"/>
                <a:ea typeface="Arial" pitchFamily="34" charset="-122"/>
                <a:cs typeface="Arial" pitchFamily="34" charset="-120"/>
              </a:rPr>
              <a:t>Every minute matters.</a:t>
            </a:r>
            <a:endParaRPr lang="en-US" sz="4000" dirty="0"/>
          </a:p>
        </p:txBody>
      </p:sp>
      <p:sp>
        <p:nvSpPr>
          <p:cNvPr id="26" name="Text 23"/>
          <p:cNvSpPr/>
          <p:nvPr/>
        </p:nvSpPr>
        <p:spPr>
          <a:xfrm>
            <a:off x="1097280" y="2514600"/>
            <a:ext cx="6949440" cy="365760"/>
          </a:xfrm>
          <a:prstGeom prst="rect">
            <a:avLst/>
          </a:prstGeom>
          <a:noFill/>
          <a:ln/>
        </p:spPr>
        <p:txBody>
          <a:bodyPr wrap="square" lIns="0" tIns="0" rIns="0" bIns="0" rtlCol="0" anchor="ctr"/>
          <a:lstStyle/>
          <a:p>
            <a:pPr algn="ctr" indent="0" marL="0">
              <a:buNone/>
            </a:pPr>
            <a:r>
              <a:rPr lang="en-US" sz="1500" i="1" dirty="0">
                <a:solidFill>
                  <a:srgbClr val="00E676"/>
                </a:solidFill>
                <a:latin typeface="Arial" pitchFamily="34" charset="0"/>
                <a:ea typeface="Arial" pitchFamily="34" charset="-122"/>
                <a:cs typeface="Arial" pitchFamily="34" charset="-120"/>
              </a:rPr>
              <a:t>HillSafe AI gives mountain roads the 23 minutes they never had.</a:t>
            </a:r>
            <a:endParaRPr lang="en-US" sz="1500" dirty="0"/>
          </a:p>
        </p:txBody>
      </p:sp>
      <p:sp>
        <p:nvSpPr>
          <p:cNvPr id="27" name="Shape 24"/>
          <p:cNvSpPr/>
          <p:nvPr/>
        </p:nvSpPr>
        <p:spPr>
          <a:xfrm>
            <a:off x="2148840" y="3246120"/>
            <a:ext cx="4846320" cy="960120"/>
          </a:xfrm>
          <a:prstGeom prst="roundRect">
            <a:avLst>
              <a:gd name="adj" fmla="val 8571"/>
            </a:avLst>
          </a:prstGeom>
          <a:solidFill>
            <a:srgbClr val="111D33"/>
          </a:solidFill>
          <a:ln w="12700">
            <a:solidFill>
              <a:srgbClr val="22405F"/>
            </a:solidFill>
            <a:prstDash val="solid"/>
          </a:ln>
          <a:effectLst>
            <a:outerShdw sx="100000" sy="100000" kx="0" ky="0" algn="bl" rotWithShape="0" blurRad="101600" dist="38100" dir="2700000">
              <a:srgbClr val="000000">
                <a:alpha val="35000"/>
              </a:srgbClr>
            </a:outerShdw>
          </a:effectLst>
        </p:spPr>
      </p:sp>
      <p:pic>
        <p:nvPicPr>
          <p:cNvPr id="28" name="Image 1" descr="preencoded.png">    </p:cNvPr>
          <p:cNvPicPr>
            <a:picLocks noChangeAspect="1"/>
          </p:cNvPicPr>
          <p:nvPr/>
        </p:nvPicPr>
        <p:blipFill>
          <a:blip r:embed="rId2"/>
          <a:stretch>
            <a:fillRect/>
          </a:stretch>
        </p:blipFill>
        <p:spPr>
          <a:xfrm>
            <a:off x="2395728" y="3529584"/>
            <a:ext cx="365760" cy="365760"/>
          </a:xfrm>
          <a:prstGeom prst="rect">
            <a:avLst/>
          </a:prstGeom>
        </p:spPr>
      </p:pic>
      <p:sp>
        <p:nvSpPr>
          <p:cNvPr id="29" name="Text 25"/>
          <p:cNvSpPr/>
          <p:nvPr/>
        </p:nvSpPr>
        <p:spPr>
          <a:xfrm>
            <a:off x="2880360" y="3310128"/>
            <a:ext cx="4023360" cy="841248"/>
          </a:xfrm>
          <a:prstGeom prst="rect">
            <a:avLst/>
          </a:prstGeom>
          <a:noFill/>
          <a:ln/>
        </p:spPr>
        <p:txBody>
          <a:bodyPr wrap="square" lIns="0" tIns="0" rIns="0" bIns="0" rtlCol="0" anchor="ctr"/>
          <a:lstStyle/>
          <a:p>
            <a:pPr indent="0" marL="0">
              <a:buNone/>
            </a:pPr>
            <a:r>
              <a:rPr lang="en-US" sz="1300" b="1" dirty="0">
                <a:solidFill>
                  <a:srgbClr val="F2F8FD"/>
                </a:solidFill>
                <a:latin typeface="Arial" pitchFamily="34" charset="0"/>
                <a:ea typeface="Arial" pitchFamily="34" charset="-122"/>
                <a:cs typeface="Arial" pitchFamily="34" charset="-120"/>
              </a:rPr>
              <a:t>SAFEER AHMED</a:t>
            </a:r>
            <a:endParaRPr lang="en-US" sz="1300" dirty="0"/>
          </a:p>
          <a:p>
            <a:pPr indent="0" marL="0">
              <a:buNone/>
            </a:pPr>
            <a:r>
              <a:rPr lang="en-US" sz="1100" dirty="0">
                <a:solidFill>
                  <a:srgbClr val="00C8FF"/>
                </a:solidFill>
                <a:latin typeface="Courier New" pitchFamily="34" charset="0"/>
                <a:ea typeface="Courier New" pitchFamily="34" charset="-122"/>
                <a:cs typeface="Courier New" pitchFamily="34" charset="-120"/>
              </a:rPr>
              <a:t>github.com/safeerahmed8/Hill_Safe_AI</a:t>
            </a:r>
            <a:endParaRPr lang="en-US" sz="1300" dirty="0"/>
          </a:p>
        </p:txBody>
      </p:sp>
      <p:sp>
        <p:nvSpPr>
          <p:cNvPr id="30" name="Text 26"/>
          <p:cNvSpPr/>
          <p:nvPr/>
        </p:nvSpPr>
        <p:spPr>
          <a:xfrm>
            <a:off x="457200" y="4526280"/>
            <a:ext cx="8229600" cy="274320"/>
          </a:xfrm>
          <a:prstGeom prst="rect">
            <a:avLst/>
          </a:prstGeom>
          <a:noFill/>
          <a:ln/>
        </p:spPr>
        <p:txBody>
          <a:bodyPr wrap="square" lIns="0" tIns="0" rIns="0" bIns="0" rtlCol="0" anchor="ctr"/>
          <a:lstStyle/>
          <a:p>
            <a:pPr algn="ctr" indent="0" marL="0">
              <a:buNone/>
            </a:pPr>
            <a:r>
              <a:rPr lang="en-US" sz="1000" spc="300" kern="0" dirty="0">
                <a:solidFill>
                  <a:srgbClr val="7E97AD"/>
                </a:solidFill>
                <a:latin typeface="Courier New" pitchFamily="34" charset="0"/>
                <a:ea typeface="Courier New" pitchFamily="34" charset="-122"/>
                <a:cs typeface="Courier New" pitchFamily="34" charset="-120"/>
              </a:rPr>
              <a:t>THANK YOU  ·  QUESTIONS WELCOME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HillSafe AI — Mountain Road Safety System</dc:title>
  <dc:subject>PptxGenJS Presentation</dc:subject>
  <dc:creator>Safeer Ahmed</dc:creator>
  <cp:lastModifiedBy>Safeer Ahmed</cp:lastModifiedBy>
  <cp:revision>1</cp:revision>
  <dcterms:created xsi:type="dcterms:W3CDTF">2026-07-03T16:35:43Z</dcterms:created>
  <dcterms:modified xsi:type="dcterms:W3CDTF">2026-07-03T16:35:43Z</dcterms:modified>
</cp:coreProperties>
</file>